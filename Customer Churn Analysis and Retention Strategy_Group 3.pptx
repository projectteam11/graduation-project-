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Red Hat Display" charset="1" panose="02010503040201060303"/>
      <p:regular r:id="rId26"/>
    </p:embeddedFont>
    <p:embeddedFont>
      <p:font typeface="Red Hat Display Bold" charset="1" panose="02010803040201060303"/>
      <p:regular r:id="rId27"/>
    </p:embeddedFont>
    <p:embeddedFont>
      <p:font typeface="Roboto Slab" charset="1" panose="00000000000000000000"/>
      <p:regular r:id="rId28"/>
    </p:embeddedFont>
    <p:embeddedFont>
      <p:font typeface="Roboto Slab Bold" charset="1" panose="00000000000000000000"/>
      <p:regular r:id="rId29"/>
    </p:embeddedFont>
    <p:embeddedFont>
      <p:font typeface="Times New Roman" charset="1" panose="02020603050405020304"/>
      <p:regular r:id="rId30"/>
    </p:embeddedFont>
    <p:embeddedFont>
      <p:font typeface="Times New Roman Bold" charset="1" panose="020208030705050203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media/image18.png" Type="http://schemas.openxmlformats.org/officeDocument/2006/relationships/image"/><Relationship Id="rId14" Target="../media/image19.png" Type="http://schemas.openxmlformats.org/officeDocument/2006/relationships/image"/><Relationship Id="rId15"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33.png" Type="http://schemas.openxmlformats.org/officeDocument/2006/relationships/image"/><Relationship Id="rId9" Target="../media/image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8760629" y="-2095015"/>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68185" y="2136222"/>
            <a:ext cx="6925852" cy="6014556"/>
          </a:xfrm>
          <a:custGeom>
            <a:avLst/>
            <a:gdLst/>
            <a:ahLst/>
            <a:cxnLst/>
            <a:rect r="r" b="b" t="t" l="l"/>
            <a:pathLst>
              <a:path h="6014556" w="6925852">
                <a:moveTo>
                  <a:pt x="0" y="0"/>
                </a:moveTo>
                <a:lnTo>
                  <a:pt x="6925852" y="0"/>
                </a:lnTo>
                <a:lnTo>
                  <a:pt x="6925852" y="6014556"/>
                </a:lnTo>
                <a:lnTo>
                  <a:pt x="0" y="6014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35325">
            <a:off x="-1336143" y="6923321"/>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26878">
            <a:off x="-216283" y="847655"/>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830696">
            <a:off x="12315724" y="82296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835571" y="6373837"/>
            <a:ext cx="5756398" cy="795627"/>
          </a:xfrm>
          <a:prstGeom prst="rect">
            <a:avLst/>
          </a:prstGeom>
        </p:spPr>
        <p:txBody>
          <a:bodyPr anchor="t" rtlCol="false" tIns="0" lIns="0" bIns="0" rIns="0">
            <a:spAutoFit/>
          </a:bodyPr>
          <a:lstStyle/>
          <a:p>
            <a:pPr algn="l">
              <a:lnSpc>
                <a:spcPts val="6546"/>
              </a:lnSpc>
            </a:pPr>
            <a:r>
              <a:rPr lang="en-US" sz="4676">
                <a:solidFill>
                  <a:srgbClr val="5B7ABE"/>
                </a:solidFill>
                <a:latin typeface="Red Hat Display"/>
                <a:ea typeface="Red Hat Display"/>
                <a:cs typeface="Red Hat Display"/>
                <a:sym typeface="Red Hat Display"/>
              </a:rPr>
              <a:t>E-commerce</a:t>
            </a:r>
          </a:p>
        </p:txBody>
      </p:sp>
      <p:sp>
        <p:nvSpPr>
          <p:cNvPr name="TextBox 8" id="8"/>
          <p:cNvSpPr txBox="true"/>
          <p:nvPr/>
        </p:nvSpPr>
        <p:spPr>
          <a:xfrm rot="0">
            <a:off x="1028700" y="3567201"/>
            <a:ext cx="7476009" cy="2473991"/>
          </a:xfrm>
          <a:prstGeom prst="rect">
            <a:avLst/>
          </a:prstGeom>
        </p:spPr>
        <p:txBody>
          <a:bodyPr anchor="t" rtlCol="false" tIns="0" lIns="0" bIns="0" rIns="0">
            <a:spAutoFit/>
          </a:bodyPr>
          <a:lstStyle/>
          <a:p>
            <a:pPr algn="l">
              <a:lnSpc>
                <a:spcPts val="6502"/>
              </a:lnSpc>
            </a:pPr>
            <a:r>
              <a:rPr lang="en-US" b="true" sz="5227">
                <a:solidFill>
                  <a:srgbClr val="2D2261"/>
                </a:solidFill>
                <a:latin typeface="Red Hat Display Bold"/>
                <a:ea typeface="Red Hat Display Bold"/>
                <a:cs typeface="Red Hat Display Bold"/>
                <a:sym typeface="Red Hat Display Bold"/>
              </a:rPr>
              <a:t>Customer Churn Analysis and retention strategy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5903843" y="1207330"/>
            <a:ext cx="1336205" cy="1336205"/>
          </a:xfrm>
          <a:custGeom>
            <a:avLst/>
            <a:gdLst/>
            <a:ahLst/>
            <a:cxnLst/>
            <a:rect r="r" b="b" t="t" l="l"/>
            <a:pathLst>
              <a:path h="1336205" w="1336205">
                <a:moveTo>
                  <a:pt x="0" y="0"/>
                </a:moveTo>
                <a:lnTo>
                  <a:pt x="1336205" y="0"/>
                </a:lnTo>
                <a:lnTo>
                  <a:pt x="1336205" y="1336205"/>
                </a:lnTo>
                <a:lnTo>
                  <a:pt x="0" y="133620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074098" y="1377585"/>
            <a:ext cx="995694" cy="99569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6" id="6"/>
          <p:cNvSpPr/>
          <p:nvPr/>
        </p:nvSpPr>
        <p:spPr>
          <a:xfrm flipH="false" flipV="false" rot="0">
            <a:off x="585467" y="3407195"/>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681736" y="1536529"/>
            <a:ext cx="4723993" cy="491968"/>
          </a:xfrm>
          <a:prstGeom prst="rect">
            <a:avLst/>
          </a:prstGeom>
        </p:spPr>
        <p:txBody>
          <a:bodyPr anchor="t" rtlCol="false" tIns="0" lIns="0" bIns="0" rIns="0">
            <a:spAutoFit/>
          </a:bodyPr>
          <a:lstStyle/>
          <a:p>
            <a:pPr algn="l">
              <a:lnSpc>
                <a:spcPts val="3977"/>
              </a:lnSpc>
            </a:pPr>
            <a:r>
              <a:rPr lang="en-US" b="true" sz="3197">
                <a:solidFill>
                  <a:srgbClr val="2D2261"/>
                </a:solidFill>
                <a:latin typeface="Red Hat Display Bold"/>
                <a:ea typeface="Red Hat Display Bold"/>
                <a:cs typeface="Red Hat Display Bold"/>
                <a:sym typeface="Red Hat Display Bold"/>
              </a:rPr>
              <a:t>Yousef Mohamed Abass</a:t>
            </a:r>
          </a:p>
        </p:txBody>
      </p:sp>
      <p:sp>
        <p:nvSpPr>
          <p:cNvPr name="TextBox 8" id="8"/>
          <p:cNvSpPr txBox="true"/>
          <p:nvPr/>
        </p:nvSpPr>
        <p:spPr>
          <a:xfrm rot="0">
            <a:off x="7681736" y="3017172"/>
            <a:ext cx="5278916" cy="496706"/>
          </a:xfrm>
          <a:prstGeom prst="rect">
            <a:avLst/>
          </a:prstGeom>
        </p:spPr>
        <p:txBody>
          <a:bodyPr anchor="t" rtlCol="false" tIns="0" lIns="0" bIns="0" rIns="0">
            <a:spAutoFit/>
          </a:bodyPr>
          <a:lstStyle/>
          <a:p>
            <a:pPr algn="l" marL="0" indent="0" lvl="0">
              <a:lnSpc>
                <a:spcPts val="3977"/>
              </a:lnSpc>
              <a:spcBef>
                <a:spcPct val="0"/>
              </a:spcBef>
            </a:pPr>
            <a:r>
              <a:rPr lang="en-US" b="true" sz="3197" strike="noStrike" u="none">
                <a:solidFill>
                  <a:srgbClr val="2D2261"/>
                </a:solidFill>
                <a:latin typeface="Red Hat Display Bold"/>
                <a:ea typeface="Red Hat Display Bold"/>
                <a:cs typeface="Red Hat Display Bold"/>
                <a:sym typeface="Red Hat Display Bold"/>
              </a:rPr>
              <a:t>Nourine Mostafa Ibrahim</a:t>
            </a:r>
          </a:p>
        </p:txBody>
      </p:sp>
      <p:sp>
        <p:nvSpPr>
          <p:cNvPr name="TextBox 9" id="9"/>
          <p:cNvSpPr txBox="true"/>
          <p:nvPr/>
        </p:nvSpPr>
        <p:spPr>
          <a:xfrm rot="0">
            <a:off x="7681736" y="4424548"/>
            <a:ext cx="4433658" cy="496706"/>
          </a:xfrm>
          <a:prstGeom prst="rect">
            <a:avLst/>
          </a:prstGeom>
        </p:spPr>
        <p:txBody>
          <a:bodyPr anchor="t" rtlCol="false" tIns="0" lIns="0" bIns="0" rIns="0">
            <a:spAutoFit/>
          </a:bodyPr>
          <a:lstStyle/>
          <a:p>
            <a:pPr algn="l" marL="0" indent="0" lvl="0">
              <a:lnSpc>
                <a:spcPts val="3977"/>
              </a:lnSpc>
              <a:spcBef>
                <a:spcPct val="0"/>
              </a:spcBef>
            </a:pPr>
            <a:r>
              <a:rPr lang="en-US" b="true" sz="3197" strike="noStrike" u="none">
                <a:solidFill>
                  <a:srgbClr val="2D2261"/>
                </a:solidFill>
                <a:latin typeface="Red Hat Display Bold"/>
                <a:ea typeface="Red Hat Display Bold"/>
                <a:cs typeface="Red Hat Display Bold"/>
                <a:sym typeface="Red Hat Display Bold"/>
              </a:rPr>
              <a:t>Jana Medhat Mostafa</a:t>
            </a:r>
          </a:p>
        </p:txBody>
      </p:sp>
      <p:sp>
        <p:nvSpPr>
          <p:cNvPr name="TextBox 10" id="10"/>
          <p:cNvSpPr txBox="true"/>
          <p:nvPr/>
        </p:nvSpPr>
        <p:spPr>
          <a:xfrm rot="0">
            <a:off x="6107791" y="1630430"/>
            <a:ext cx="928309" cy="480479"/>
          </a:xfrm>
          <a:prstGeom prst="rect">
            <a:avLst/>
          </a:prstGeom>
        </p:spPr>
        <p:txBody>
          <a:bodyPr anchor="t" rtlCol="false" tIns="0" lIns="0" bIns="0" rIns="0">
            <a:spAutoFit/>
          </a:bodyPr>
          <a:lstStyle/>
          <a:p>
            <a:pPr algn="ctr">
              <a:lnSpc>
                <a:spcPts val="3850"/>
              </a:lnSpc>
            </a:pPr>
            <a:r>
              <a:rPr lang="en-US" b="true" sz="3094">
                <a:solidFill>
                  <a:srgbClr val="2D2261"/>
                </a:solidFill>
                <a:latin typeface="Red Hat Display Bold"/>
                <a:ea typeface="Red Hat Display Bold"/>
                <a:cs typeface="Red Hat Display Bold"/>
                <a:sym typeface="Red Hat Display Bold"/>
              </a:rPr>
              <a:t>1</a:t>
            </a:r>
          </a:p>
        </p:txBody>
      </p:sp>
      <p:sp>
        <p:nvSpPr>
          <p:cNvPr name="Freeform 11" id="11"/>
          <p:cNvSpPr/>
          <p:nvPr/>
        </p:nvSpPr>
        <p:spPr>
          <a:xfrm flipH="false" flipV="false" rot="0">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7681736" y="5864727"/>
            <a:ext cx="6260954" cy="496706"/>
          </a:xfrm>
          <a:prstGeom prst="rect">
            <a:avLst/>
          </a:prstGeom>
        </p:spPr>
        <p:txBody>
          <a:bodyPr anchor="t" rtlCol="false" tIns="0" lIns="0" bIns="0" rIns="0">
            <a:spAutoFit/>
          </a:bodyPr>
          <a:lstStyle/>
          <a:p>
            <a:pPr algn="l" marL="0" indent="0" lvl="0">
              <a:lnSpc>
                <a:spcPts val="3977"/>
              </a:lnSpc>
              <a:spcBef>
                <a:spcPct val="0"/>
              </a:spcBef>
            </a:pPr>
            <a:r>
              <a:rPr lang="en-US" b="true" sz="3197">
                <a:solidFill>
                  <a:srgbClr val="2D2261"/>
                </a:solidFill>
                <a:latin typeface="Red Hat Display Bold"/>
                <a:ea typeface="Red Hat Display Bold"/>
                <a:cs typeface="Red Hat Display Bold"/>
                <a:sym typeface="Red Hat Display Bold"/>
              </a:rPr>
              <a:t>Salma HamdyAbdelfattah</a:t>
            </a:r>
          </a:p>
        </p:txBody>
      </p:sp>
      <p:sp>
        <p:nvSpPr>
          <p:cNvPr name="TextBox 16" id="16"/>
          <p:cNvSpPr txBox="true"/>
          <p:nvPr/>
        </p:nvSpPr>
        <p:spPr>
          <a:xfrm rot="0">
            <a:off x="7681736" y="8652961"/>
            <a:ext cx="6292914" cy="496706"/>
          </a:xfrm>
          <a:prstGeom prst="rect">
            <a:avLst/>
          </a:prstGeom>
        </p:spPr>
        <p:txBody>
          <a:bodyPr anchor="t" rtlCol="false" tIns="0" lIns="0" bIns="0" rIns="0">
            <a:spAutoFit/>
          </a:bodyPr>
          <a:lstStyle/>
          <a:p>
            <a:pPr algn="l" marL="0" indent="0" lvl="0">
              <a:lnSpc>
                <a:spcPts val="3977"/>
              </a:lnSpc>
              <a:spcBef>
                <a:spcPct val="0"/>
              </a:spcBef>
            </a:pPr>
            <a:r>
              <a:rPr lang="en-US" b="true" sz="3197">
                <a:solidFill>
                  <a:srgbClr val="2D2261"/>
                </a:solidFill>
                <a:latin typeface="Red Hat Display Bold"/>
                <a:ea typeface="Red Hat Display Bold"/>
                <a:cs typeface="Red Hat Display Bold"/>
                <a:sym typeface="Red Hat Display Bold"/>
              </a:rPr>
              <a:t>Jomana Wael Mahmoud</a:t>
            </a:r>
          </a:p>
        </p:txBody>
      </p:sp>
      <p:sp>
        <p:nvSpPr>
          <p:cNvPr name="TextBox 17" id="17"/>
          <p:cNvSpPr txBox="true"/>
          <p:nvPr/>
        </p:nvSpPr>
        <p:spPr>
          <a:xfrm rot="0">
            <a:off x="5231422" y="400014"/>
            <a:ext cx="3399037" cy="634818"/>
          </a:xfrm>
          <a:prstGeom prst="rect">
            <a:avLst/>
          </a:prstGeom>
        </p:spPr>
        <p:txBody>
          <a:bodyPr anchor="t" rtlCol="false" tIns="0" lIns="0" bIns="0" rIns="0">
            <a:spAutoFit/>
          </a:bodyPr>
          <a:lstStyle/>
          <a:p>
            <a:pPr algn="l">
              <a:lnSpc>
                <a:spcPts val="5076"/>
              </a:lnSpc>
            </a:pPr>
            <a:r>
              <a:rPr lang="en-US" b="true" sz="4080">
                <a:solidFill>
                  <a:srgbClr val="2D2261"/>
                </a:solidFill>
                <a:latin typeface="Red Hat Display Bold"/>
                <a:ea typeface="Red Hat Display Bold"/>
                <a:cs typeface="Red Hat Display Bold"/>
                <a:sym typeface="Red Hat Display Bold"/>
              </a:rPr>
              <a:t>Prepared by:</a:t>
            </a:r>
          </a:p>
        </p:txBody>
      </p:sp>
      <p:sp>
        <p:nvSpPr>
          <p:cNvPr name="TextBox 18" id="18"/>
          <p:cNvSpPr txBox="true"/>
          <p:nvPr/>
        </p:nvSpPr>
        <p:spPr>
          <a:xfrm rot="0">
            <a:off x="13177604" y="3724905"/>
            <a:ext cx="4036959" cy="634818"/>
          </a:xfrm>
          <a:prstGeom prst="rect">
            <a:avLst/>
          </a:prstGeom>
        </p:spPr>
        <p:txBody>
          <a:bodyPr anchor="t" rtlCol="false" tIns="0" lIns="0" bIns="0" rIns="0">
            <a:spAutoFit/>
          </a:bodyPr>
          <a:lstStyle/>
          <a:p>
            <a:pPr algn="l">
              <a:lnSpc>
                <a:spcPts val="5076"/>
              </a:lnSpc>
            </a:pPr>
            <a:r>
              <a:rPr lang="en-US" b="true" sz="4080">
                <a:solidFill>
                  <a:srgbClr val="2D2261"/>
                </a:solidFill>
                <a:latin typeface="Red Hat Display Bold"/>
                <a:ea typeface="Red Hat Display Bold"/>
                <a:cs typeface="Red Hat Display Bold"/>
                <a:sym typeface="Red Hat Display Bold"/>
              </a:rPr>
              <a:t>Supervised by:</a:t>
            </a:r>
          </a:p>
        </p:txBody>
      </p:sp>
      <p:sp>
        <p:nvSpPr>
          <p:cNvPr name="TextBox 19" id="19"/>
          <p:cNvSpPr txBox="true"/>
          <p:nvPr/>
        </p:nvSpPr>
        <p:spPr>
          <a:xfrm rot="0">
            <a:off x="13654732" y="4730453"/>
            <a:ext cx="3082703" cy="488412"/>
          </a:xfrm>
          <a:prstGeom prst="rect">
            <a:avLst/>
          </a:prstGeom>
        </p:spPr>
        <p:txBody>
          <a:bodyPr anchor="t" rtlCol="false" tIns="0" lIns="0" bIns="0" rIns="0">
            <a:spAutoFit/>
          </a:bodyPr>
          <a:lstStyle/>
          <a:p>
            <a:pPr algn="l" marL="0" indent="0" lvl="0">
              <a:lnSpc>
                <a:spcPts val="3977"/>
              </a:lnSpc>
              <a:spcBef>
                <a:spcPct val="0"/>
              </a:spcBef>
            </a:pPr>
            <a:r>
              <a:rPr lang="en-US" b="true" sz="3197" strike="noStrike" u="none">
                <a:solidFill>
                  <a:srgbClr val="2D2261"/>
                </a:solidFill>
                <a:latin typeface="Red Hat Display Bold"/>
                <a:ea typeface="Red Hat Display Bold"/>
                <a:cs typeface="Red Hat Display Bold"/>
                <a:sym typeface="Red Hat Display Bold"/>
              </a:rPr>
              <a:t>Amira yousef</a:t>
            </a:r>
          </a:p>
        </p:txBody>
      </p:sp>
      <p:sp>
        <p:nvSpPr>
          <p:cNvPr name="Freeform 20" id="20"/>
          <p:cNvSpPr/>
          <p:nvPr/>
        </p:nvSpPr>
        <p:spPr>
          <a:xfrm flipH="false" flipV="false" rot="0">
            <a:off x="5903843" y="2616816"/>
            <a:ext cx="1336205" cy="1336205"/>
          </a:xfrm>
          <a:custGeom>
            <a:avLst/>
            <a:gdLst/>
            <a:ahLst/>
            <a:cxnLst/>
            <a:rect r="r" b="b" t="t" l="l"/>
            <a:pathLst>
              <a:path h="1336205" w="1336205">
                <a:moveTo>
                  <a:pt x="0" y="0"/>
                </a:moveTo>
                <a:lnTo>
                  <a:pt x="1336205" y="0"/>
                </a:lnTo>
                <a:lnTo>
                  <a:pt x="1336205" y="1336205"/>
                </a:lnTo>
                <a:lnTo>
                  <a:pt x="0" y="133620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21" id="21"/>
          <p:cNvGrpSpPr/>
          <p:nvPr/>
        </p:nvGrpSpPr>
        <p:grpSpPr>
          <a:xfrm rot="0">
            <a:off x="6074098" y="2787072"/>
            <a:ext cx="995694" cy="99569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24" id="24"/>
          <p:cNvSpPr txBox="true"/>
          <p:nvPr/>
        </p:nvSpPr>
        <p:spPr>
          <a:xfrm rot="0">
            <a:off x="6107791" y="3039917"/>
            <a:ext cx="928309" cy="480479"/>
          </a:xfrm>
          <a:prstGeom prst="rect">
            <a:avLst/>
          </a:prstGeom>
        </p:spPr>
        <p:txBody>
          <a:bodyPr anchor="t" rtlCol="false" tIns="0" lIns="0" bIns="0" rIns="0">
            <a:spAutoFit/>
          </a:bodyPr>
          <a:lstStyle/>
          <a:p>
            <a:pPr algn="ctr">
              <a:lnSpc>
                <a:spcPts val="3850"/>
              </a:lnSpc>
            </a:pPr>
            <a:r>
              <a:rPr lang="en-US" b="true" sz="3094">
                <a:solidFill>
                  <a:srgbClr val="2D2261"/>
                </a:solidFill>
                <a:latin typeface="Red Hat Display Bold"/>
                <a:ea typeface="Red Hat Display Bold"/>
                <a:cs typeface="Red Hat Display Bold"/>
                <a:sym typeface="Red Hat Display Bold"/>
              </a:rPr>
              <a:t>2</a:t>
            </a:r>
          </a:p>
        </p:txBody>
      </p:sp>
      <p:sp>
        <p:nvSpPr>
          <p:cNvPr name="Freeform 25" id="25"/>
          <p:cNvSpPr/>
          <p:nvPr/>
        </p:nvSpPr>
        <p:spPr>
          <a:xfrm flipH="false" flipV="false" rot="0">
            <a:off x="5903843" y="4029221"/>
            <a:ext cx="1336205" cy="1336205"/>
          </a:xfrm>
          <a:custGeom>
            <a:avLst/>
            <a:gdLst/>
            <a:ahLst/>
            <a:cxnLst/>
            <a:rect r="r" b="b" t="t" l="l"/>
            <a:pathLst>
              <a:path h="1336205" w="1336205">
                <a:moveTo>
                  <a:pt x="0" y="0"/>
                </a:moveTo>
                <a:lnTo>
                  <a:pt x="1336205" y="0"/>
                </a:lnTo>
                <a:lnTo>
                  <a:pt x="1336205" y="1336205"/>
                </a:lnTo>
                <a:lnTo>
                  <a:pt x="0" y="133620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26" id="26"/>
          <p:cNvGrpSpPr/>
          <p:nvPr/>
        </p:nvGrpSpPr>
        <p:grpSpPr>
          <a:xfrm rot="0">
            <a:off x="6074098" y="4199477"/>
            <a:ext cx="995694" cy="99569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8" id="28"/>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29" id="29"/>
          <p:cNvSpPr txBox="true"/>
          <p:nvPr/>
        </p:nvSpPr>
        <p:spPr>
          <a:xfrm rot="0">
            <a:off x="6107791" y="4452322"/>
            <a:ext cx="928309" cy="480479"/>
          </a:xfrm>
          <a:prstGeom prst="rect">
            <a:avLst/>
          </a:prstGeom>
        </p:spPr>
        <p:txBody>
          <a:bodyPr anchor="t" rtlCol="false" tIns="0" lIns="0" bIns="0" rIns="0">
            <a:spAutoFit/>
          </a:bodyPr>
          <a:lstStyle/>
          <a:p>
            <a:pPr algn="ctr">
              <a:lnSpc>
                <a:spcPts val="3850"/>
              </a:lnSpc>
            </a:pPr>
            <a:r>
              <a:rPr lang="en-US" b="true" sz="3094">
                <a:solidFill>
                  <a:srgbClr val="2D2261"/>
                </a:solidFill>
                <a:latin typeface="Red Hat Display Bold"/>
                <a:ea typeface="Red Hat Display Bold"/>
                <a:cs typeface="Red Hat Display Bold"/>
                <a:sym typeface="Red Hat Display Bold"/>
              </a:rPr>
              <a:t>3</a:t>
            </a:r>
          </a:p>
        </p:txBody>
      </p:sp>
      <p:sp>
        <p:nvSpPr>
          <p:cNvPr name="Freeform 30" id="30"/>
          <p:cNvSpPr/>
          <p:nvPr/>
        </p:nvSpPr>
        <p:spPr>
          <a:xfrm flipH="false" flipV="false" rot="0">
            <a:off x="5903843" y="5441626"/>
            <a:ext cx="1336205" cy="1336205"/>
          </a:xfrm>
          <a:custGeom>
            <a:avLst/>
            <a:gdLst/>
            <a:ahLst/>
            <a:cxnLst/>
            <a:rect r="r" b="b" t="t" l="l"/>
            <a:pathLst>
              <a:path h="1336205" w="1336205">
                <a:moveTo>
                  <a:pt x="0" y="0"/>
                </a:moveTo>
                <a:lnTo>
                  <a:pt x="1336205" y="0"/>
                </a:lnTo>
                <a:lnTo>
                  <a:pt x="1336205" y="1336205"/>
                </a:lnTo>
                <a:lnTo>
                  <a:pt x="0" y="133620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31" id="31"/>
          <p:cNvGrpSpPr/>
          <p:nvPr/>
        </p:nvGrpSpPr>
        <p:grpSpPr>
          <a:xfrm rot="0">
            <a:off x="6074098" y="5611882"/>
            <a:ext cx="995694" cy="995694"/>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3" id="3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34" id="34"/>
          <p:cNvSpPr txBox="true"/>
          <p:nvPr/>
        </p:nvSpPr>
        <p:spPr>
          <a:xfrm rot="0">
            <a:off x="6107791" y="5864727"/>
            <a:ext cx="928309" cy="480479"/>
          </a:xfrm>
          <a:prstGeom prst="rect">
            <a:avLst/>
          </a:prstGeom>
        </p:spPr>
        <p:txBody>
          <a:bodyPr anchor="t" rtlCol="false" tIns="0" lIns="0" bIns="0" rIns="0">
            <a:spAutoFit/>
          </a:bodyPr>
          <a:lstStyle/>
          <a:p>
            <a:pPr algn="ctr">
              <a:lnSpc>
                <a:spcPts val="3850"/>
              </a:lnSpc>
            </a:pPr>
            <a:r>
              <a:rPr lang="en-US" b="true" sz="3094">
                <a:solidFill>
                  <a:srgbClr val="2D2261"/>
                </a:solidFill>
                <a:latin typeface="Red Hat Display Bold"/>
                <a:ea typeface="Red Hat Display Bold"/>
                <a:cs typeface="Red Hat Display Bold"/>
                <a:sym typeface="Red Hat Display Bold"/>
              </a:rPr>
              <a:t>4</a:t>
            </a:r>
          </a:p>
        </p:txBody>
      </p:sp>
      <p:sp>
        <p:nvSpPr>
          <p:cNvPr name="Freeform 35" id="35"/>
          <p:cNvSpPr/>
          <p:nvPr/>
        </p:nvSpPr>
        <p:spPr>
          <a:xfrm flipH="false" flipV="false" rot="0">
            <a:off x="5903843" y="6854031"/>
            <a:ext cx="1336205" cy="1336205"/>
          </a:xfrm>
          <a:custGeom>
            <a:avLst/>
            <a:gdLst/>
            <a:ahLst/>
            <a:cxnLst/>
            <a:rect r="r" b="b" t="t" l="l"/>
            <a:pathLst>
              <a:path h="1336205" w="1336205">
                <a:moveTo>
                  <a:pt x="0" y="0"/>
                </a:moveTo>
                <a:lnTo>
                  <a:pt x="1336205" y="0"/>
                </a:lnTo>
                <a:lnTo>
                  <a:pt x="1336205" y="1336205"/>
                </a:lnTo>
                <a:lnTo>
                  <a:pt x="0" y="133620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36" id="36"/>
          <p:cNvGrpSpPr/>
          <p:nvPr/>
        </p:nvGrpSpPr>
        <p:grpSpPr>
          <a:xfrm rot="0">
            <a:off x="6074098" y="7024287"/>
            <a:ext cx="995694" cy="995694"/>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8" id="38"/>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39" id="39"/>
          <p:cNvSpPr txBox="true"/>
          <p:nvPr/>
        </p:nvSpPr>
        <p:spPr>
          <a:xfrm rot="0">
            <a:off x="6107791" y="7277132"/>
            <a:ext cx="928309" cy="480479"/>
          </a:xfrm>
          <a:prstGeom prst="rect">
            <a:avLst/>
          </a:prstGeom>
        </p:spPr>
        <p:txBody>
          <a:bodyPr anchor="t" rtlCol="false" tIns="0" lIns="0" bIns="0" rIns="0">
            <a:spAutoFit/>
          </a:bodyPr>
          <a:lstStyle/>
          <a:p>
            <a:pPr algn="ctr">
              <a:lnSpc>
                <a:spcPts val="3850"/>
              </a:lnSpc>
            </a:pPr>
            <a:r>
              <a:rPr lang="en-US" b="true" sz="3094">
                <a:solidFill>
                  <a:srgbClr val="2D2261"/>
                </a:solidFill>
                <a:latin typeface="Red Hat Display Bold"/>
                <a:ea typeface="Red Hat Display Bold"/>
                <a:cs typeface="Red Hat Display Bold"/>
                <a:sym typeface="Red Hat Display Bold"/>
              </a:rPr>
              <a:t>5</a:t>
            </a:r>
          </a:p>
        </p:txBody>
      </p:sp>
      <p:sp>
        <p:nvSpPr>
          <p:cNvPr name="Freeform 40" id="40"/>
          <p:cNvSpPr/>
          <p:nvPr/>
        </p:nvSpPr>
        <p:spPr>
          <a:xfrm flipH="false" flipV="false" rot="0">
            <a:off x="5903843" y="8266436"/>
            <a:ext cx="1336205" cy="1336205"/>
          </a:xfrm>
          <a:custGeom>
            <a:avLst/>
            <a:gdLst/>
            <a:ahLst/>
            <a:cxnLst/>
            <a:rect r="r" b="b" t="t" l="l"/>
            <a:pathLst>
              <a:path h="1336205" w="1336205">
                <a:moveTo>
                  <a:pt x="0" y="0"/>
                </a:moveTo>
                <a:lnTo>
                  <a:pt x="1336205" y="0"/>
                </a:lnTo>
                <a:lnTo>
                  <a:pt x="1336205" y="1336205"/>
                </a:lnTo>
                <a:lnTo>
                  <a:pt x="0" y="133620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41" id="41"/>
          <p:cNvGrpSpPr/>
          <p:nvPr/>
        </p:nvGrpSpPr>
        <p:grpSpPr>
          <a:xfrm rot="0">
            <a:off x="6074098" y="8436692"/>
            <a:ext cx="995694" cy="995694"/>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3" id="4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44" id="44"/>
          <p:cNvSpPr txBox="true"/>
          <p:nvPr/>
        </p:nvSpPr>
        <p:spPr>
          <a:xfrm rot="0">
            <a:off x="6107791" y="8689537"/>
            <a:ext cx="928309" cy="480479"/>
          </a:xfrm>
          <a:prstGeom prst="rect">
            <a:avLst/>
          </a:prstGeom>
        </p:spPr>
        <p:txBody>
          <a:bodyPr anchor="t" rtlCol="false" tIns="0" lIns="0" bIns="0" rIns="0">
            <a:spAutoFit/>
          </a:bodyPr>
          <a:lstStyle/>
          <a:p>
            <a:pPr algn="ctr">
              <a:lnSpc>
                <a:spcPts val="3850"/>
              </a:lnSpc>
            </a:pPr>
            <a:r>
              <a:rPr lang="en-US" b="true" sz="3094">
                <a:solidFill>
                  <a:srgbClr val="2D2261"/>
                </a:solidFill>
                <a:latin typeface="Red Hat Display Bold"/>
                <a:ea typeface="Red Hat Display Bold"/>
                <a:cs typeface="Red Hat Display Bold"/>
                <a:sym typeface="Red Hat Display Bold"/>
              </a:rPr>
              <a:t>6</a:t>
            </a:r>
          </a:p>
        </p:txBody>
      </p:sp>
      <p:sp>
        <p:nvSpPr>
          <p:cNvPr name="TextBox 45" id="45"/>
          <p:cNvSpPr txBox="true"/>
          <p:nvPr/>
        </p:nvSpPr>
        <p:spPr>
          <a:xfrm rot="0">
            <a:off x="7681736" y="7260905"/>
            <a:ext cx="6292914" cy="496706"/>
          </a:xfrm>
          <a:prstGeom prst="rect">
            <a:avLst/>
          </a:prstGeom>
        </p:spPr>
        <p:txBody>
          <a:bodyPr anchor="t" rtlCol="false" tIns="0" lIns="0" bIns="0" rIns="0">
            <a:spAutoFit/>
          </a:bodyPr>
          <a:lstStyle/>
          <a:p>
            <a:pPr algn="l" marL="0" indent="0" lvl="0">
              <a:lnSpc>
                <a:spcPts val="3977"/>
              </a:lnSpc>
              <a:spcBef>
                <a:spcPct val="0"/>
              </a:spcBef>
            </a:pPr>
            <a:r>
              <a:rPr lang="en-US" b="true" sz="3197">
                <a:solidFill>
                  <a:srgbClr val="2D2261"/>
                </a:solidFill>
                <a:latin typeface="Red Hat Display Bold"/>
                <a:ea typeface="Red Hat Display Bold"/>
                <a:cs typeface="Red Hat Display Bold"/>
                <a:sym typeface="Red Hat Display Bold"/>
              </a:rPr>
              <a:t>Jana Ahmed Mohamed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646929" y="820759"/>
            <a:ext cx="8994142"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Data Quality Issues</a:t>
            </a:r>
          </a:p>
        </p:txBody>
      </p:sp>
      <p:grpSp>
        <p:nvGrpSpPr>
          <p:cNvPr name="Group 3" id="3"/>
          <p:cNvGrpSpPr/>
          <p:nvPr/>
        </p:nvGrpSpPr>
        <p:grpSpPr>
          <a:xfrm rot="0">
            <a:off x="811294" y="4882917"/>
            <a:ext cx="7671270" cy="2932355"/>
            <a:chOff x="0" y="0"/>
            <a:chExt cx="2020417" cy="772307"/>
          </a:xfrm>
        </p:grpSpPr>
        <p:sp>
          <p:nvSpPr>
            <p:cNvPr name="Freeform 4" id="4"/>
            <p:cNvSpPr/>
            <p:nvPr/>
          </p:nvSpPr>
          <p:spPr>
            <a:xfrm flipH="false" flipV="false" rot="0">
              <a:off x="0" y="0"/>
              <a:ext cx="2020417" cy="772307"/>
            </a:xfrm>
            <a:custGeom>
              <a:avLst/>
              <a:gdLst/>
              <a:ahLst/>
              <a:cxnLst/>
              <a:rect r="r" b="b" t="t" l="l"/>
              <a:pathLst>
                <a:path h="772307" w="2020417">
                  <a:moveTo>
                    <a:pt x="30276" y="0"/>
                  </a:moveTo>
                  <a:lnTo>
                    <a:pt x="1990141" y="0"/>
                  </a:lnTo>
                  <a:cubicBezTo>
                    <a:pt x="1998170" y="0"/>
                    <a:pt x="2005871" y="3190"/>
                    <a:pt x="2011549" y="8868"/>
                  </a:cubicBezTo>
                  <a:cubicBezTo>
                    <a:pt x="2017227" y="14546"/>
                    <a:pt x="2020417" y="22247"/>
                    <a:pt x="2020417" y="30276"/>
                  </a:cubicBezTo>
                  <a:lnTo>
                    <a:pt x="2020417" y="742031"/>
                  </a:lnTo>
                  <a:cubicBezTo>
                    <a:pt x="2020417" y="750061"/>
                    <a:pt x="2017227" y="757762"/>
                    <a:pt x="2011549" y="763440"/>
                  </a:cubicBezTo>
                  <a:cubicBezTo>
                    <a:pt x="2005871" y="769118"/>
                    <a:pt x="1998170" y="772307"/>
                    <a:pt x="1990141" y="772307"/>
                  </a:cubicBezTo>
                  <a:lnTo>
                    <a:pt x="30276" y="772307"/>
                  </a:lnTo>
                  <a:cubicBezTo>
                    <a:pt x="22247" y="772307"/>
                    <a:pt x="14546" y="769118"/>
                    <a:pt x="8868" y="763440"/>
                  </a:cubicBezTo>
                  <a:cubicBezTo>
                    <a:pt x="3190" y="757762"/>
                    <a:pt x="0" y="750061"/>
                    <a:pt x="0" y="742031"/>
                  </a:cubicBezTo>
                  <a:lnTo>
                    <a:pt x="0" y="30276"/>
                  </a:lnTo>
                  <a:cubicBezTo>
                    <a:pt x="0" y="22247"/>
                    <a:pt x="3190" y="14546"/>
                    <a:pt x="8868" y="8868"/>
                  </a:cubicBezTo>
                  <a:cubicBezTo>
                    <a:pt x="14546" y="3190"/>
                    <a:pt x="22247" y="0"/>
                    <a:pt x="30276" y="0"/>
                  </a:cubicBezTo>
                  <a:close/>
                </a:path>
              </a:pathLst>
            </a:custGeom>
            <a:solidFill>
              <a:srgbClr val="ECE1D7"/>
            </a:solidFill>
          </p:spPr>
        </p:sp>
        <p:sp>
          <p:nvSpPr>
            <p:cNvPr name="TextBox 5" id="5"/>
            <p:cNvSpPr txBox="true"/>
            <p:nvPr/>
          </p:nvSpPr>
          <p:spPr>
            <a:xfrm>
              <a:off x="0" y="-47625"/>
              <a:ext cx="2020417" cy="819932"/>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2533018" y="1777517"/>
            <a:ext cx="4108584" cy="1238584"/>
            <a:chOff x="0" y="0"/>
            <a:chExt cx="1082096" cy="326211"/>
          </a:xfrm>
        </p:grpSpPr>
        <p:sp>
          <p:nvSpPr>
            <p:cNvPr name="Freeform 7" id="7"/>
            <p:cNvSpPr/>
            <p:nvPr/>
          </p:nvSpPr>
          <p:spPr>
            <a:xfrm flipH="false" flipV="false" rot="0">
              <a:off x="0" y="0"/>
              <a:ext cx="1082096" cy="326211"/>
            </a:xfrm>
            <a:custGeom>
              <a:avLst/>
              <a:gdLst/>
              <a:ahLst/>
              <a:cxnLst/>
              <a:rect r="r" b="b" t="t" l="l"/>
              <a:pathLst>
                <a:path h="326211" w="1082096">
                  <a:moveTo>
                    <a:pt x="56530" y="0"/>
                  </a:moveTo>
                  <a:lnTo>
                    <a:pt x="1025566" y="0"/>
                  </a:lnTo>
                  <a:cubicBezTo>
                    <a:pt x="1040559" y="0"/>
                    <a:pt x="1054937" y="5956"/>
                    <a:pt x="1065539" y="16557"/>
                  </a:cubicBezTo>
                  <a:cubicBezTo>
                    <a:pt x="1076140" y="27159"/>
                    <a:pt x="1082096" y="41537"/>
                    <a:pt x="1082096" y="56530"/>
                  </a:cubicBezTo>
                  <a:lnTo>
                    <a:pt x="1082096" y="269682"/>
                  </a:lnTo>
                  <a:cubicBezTo>
                    <a:pt x="1082096" y="284674"/>
                    <a:pt x="1076140" y="299053"/>
                    <a:pt x="1065539" y="309654"/>
                  </a:cubicBezTo>
                  <a:cubicBezTo>
                    <a:pt x="1054937" y="320256"/>
                    <a:pt x="1040559" y="326211"/>
                    <a:pt x="1025566" y="326211"/>
                  </a:cubicBezTo>
                  <a:lnTo>
                    <a:pt x="56530" y="326211"/>
                  </a:lnTo>
                  <a:cubicBezTo>
                    <a:pt x="25309" y="326211"/>
                    <a:pt x="0" y="300902"/>
                    <a:pt x="0" y="269682"/>
                  </a:cubicBezTo>
                  <a:lnTo>
                    <a:pt x="0" y="56530"/>
                  </a:lnTo>
                  <a:cubicBezTo>
                    <a:pt x="0" y="41537"/>
                    <a:pt x="5956" y="27159"/>
                    <a:pt x="16557" y="16557"/>
                  </a:cubicBezTo>
                  <a:cubicBezTo>
                    <a:pt x="27159" y="5956"/>
                    <a:pt x="41537" y="0"/>
                    <a:pt x="56530" y="0"/>
                  </a:cubicBezTo>
                  <a:close/>
                </a:path>
              </a:pathLst>
            </a:custGeom>
            <a:solidFill>
              <a:srgbClr val="5B7ABE"/>
            </a:solidFill>
          </p:spPr>
        </p:sp>
        <p:sp>
          <p:nvSpPr>
            <p:cNvPr name="TextBox 8" id="8"/>
            <p:cNvSpPr txBox="true"/>
            <p:nvPr/>
          </p:nvSpPr>
          <p:spPr>
            <a:xfrm>
              <a:off x="0" y="-47625"/>
              <a:ext cx="1082096" cy="373836"/>
            </a:xfrm>
            <a:prstGeom prst="rect">
              <a:avLst/>
            </a:prstGeom>
          </p:spPr>
          <p:txBody>
            <a:bodyPr anchor="ctr" rtlCol="false" tIns="50800" lIns="50800" bIns="50800" rIns="50800"/>
            <a:lstStyle/>
            <a:p>
              <a:pPr algn="ctr">
                <a:lnSpc>
                  <a:spcPts val="3032"/>
                </a:lnSpc>
              </a:pPr>
            </a:p>
          </p:txBody>
        </p:sp>
      </p:grpSp>
      <p:sp>
        <p:nvSpPr>
          <p:cNvPr name="Freeform 9" id="9"/>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064619" y="5765325"/>
            <a:ext cx="7107471" cy="1167538"/>
          </a:xfrm>
          <a:custGeom>
            <a:avLst/>
            <a:gdLst/>
            <a:ahLst/>
            <a:cxnLst/>
            <a:rect r="r" b="b" t="t" l="l"/>
            <a:pathLst>
              <a:path h="1167538" w="7107471">
                <a:moveTo>
                  <a:pt x="0" y="0"/>
                </a:moveTo>
                <a:lnTo>
                  <a:pt x="7107471" y="0"/>
                </a:lnTo>
                <a:lnTo>
                  <a:pt x="7107471" y="1167538"/>
                </a:lnTo>
                <a:lnTo>
                  <a:pt x="0" y="1167538"/>
                </a:lnTo>
                <a:lnTo>
                  <a:pt x="0" y="0"/>
                </a:lnTo>
                <a:close/>
              </a:path>
            </a:pathLst>
          </a:custGeom>
          <a:blipFill>
            <a:blip r:embed="rId10"/>
            <a:stretch>
              <a:fillRect l="0" t="0" r="-85092" b="0"/>
            </a:stretch>
          </a:blipFill>
        </p:spPr>
      </p:sp>
      <p:grpSp>
        <p:nvGrpSpPr>
          <p:cNvPr name="Group 14" id="14"/>
          <p:cNvGrpSpPr/>
          <p:nvPr/>
        </p:nvGrpSpPr>
        <p:grpSpPr>
          <a:xfrm rot="0">
            <a:off x="811294" y="3242699"/>
            <a:ext cx="7671270" cy="1413621"/>
            <a:chOff x="0" y="0"/>
            <a:chExt cx="2020417" cy="372312"/>
          </a:xfrm>
        </p:grpSpPr>
        <p:sp>
          <p:nvSpPr>
            <p:cNvPr name="Freeform 15" id="15"/>
            <p:cNvSpPr/>
            <p:nvPr/>
          </p:nvSpPr>
          <p:spPr>
            <a:xfrm flipH="false" flipV="false" rot="0">
              <a:off x="0" y="0"/>
              <a:ext cx="2020417" cy="372312"/>
            </a:xfrm>
            <a:custGeom>
              <a:avLst/>
              <a:gdLst/>
              <a:ahLst/>
              <a:cxnLst/>
              <a:rect r="r" b="b" t="t" l="l"/>
              <a:pathLst>
                <a:path h="372312" w="2020417">
                  <a:moveTo>
                    <a:pt x="30276" y="0"/>
                  </a:moveTo>
                  <a:lnTo>
                    <a:pt x="1990141" y="0"/>
                  </a:lnTo>
                  <a:cubicBezTo>
                    <a:pt x="1998170" y="0"/>
                    <a:pt x="2005871" y="3190"/>
                    <a:pt x="2011549" y="8868"/>
                  </a:cubicBezTo>
                  <a:cubicBezTo>
                    <a:pt x="2017227" y="14546"/>
                    <a:pt x="2020417" y="22247"/>
                    <a:pt x="2020417" y="30276"/>
                  </a:cubicBezTo>
                  <a:lnTo>
                    <a:pt x="2020417" y="342035"/>
                  </a:lnTo>
                  <a:cubicBezTo>
                    <a:pt x="2020417" y="350065"/>
                    <a:pt x="2017227" y="357766"/>
                    <a:pt x="2011549" y="363444"/>
                  </a:cubicBezTo>
                  <a:cubicBezTo>
                    <a:pt x="2005871" y="369122"/>
                    <a:pt x="1998170" y="372312"/>
                    <a:pt x="1990141" y="372312"/>
                  </a:cubicBezTo>
                  <a:lnTo>
                    <a:pt x="30276" y="372312"/>
                  </a:lnTo>
                  <a:cubicBezTo>
                    <a:pt x="22247" y="372312"/>
                    <a:pt x="14546" y="369122"/>
                    <a:pt x="8868" y="363444"/>
                  </a:cubicBezTo>
                  <a:cubicBezTo>
                    <a:pt x="3190" y="357766"/>
                    <a:pt x="0" y="350065"/>
                    <a:pt x="0" y="342035"/>
                  </a:cubicBezTo>
                  <a:lnTo>
                    <a:pt x="0" y="30276"/>
                  </a:lnTo>
                  <a:cubicBezTo>
                    <a:pt x="0" y="22247"/>
                    <a:pt x="3190" y="14546"/>
                    <a:pt x="8868" y="8868"/>
                  </a:cubicBezTo>
                  <a:cubicBezTo>
                    <a:pt x="14546" y="3190"/>
                    <a:pt x="22247" y="0"/>
                    <a:pt x="30276" y="0"/>
                  </a:cubicBezTo>
                  <a:close/>
                </a:path>
              </a:pathLst>
            </a:custGeom>
            <a:solidFill>
              <a:srgbClr val="ECE1D7"/>
            </a:solidFill>
          </p:spPr>
        </p:sp>
        <p:sp>
          <p:nvSpPr>
            <p:cNvPr name="TextBox 16" id="16"/>
            <p:cNvSpPr txBox="true"/>
            <p:nvPr/>
          </p:nvSpPr>
          <p:spPr>
            <a:xfrm>
              <a:off x="0" y="-47625"/>
              <a:ext cx="2020417" cy="419937"/>
            </a:xfrm>
            <a:prstGeom prst="rect">
              <a:avLst/>
            </a:prstGeom>
          </p:spPr>
          <p:txBody>
            <a:bodyPr anchor="ctr" rtlCol="false" tIns="50800" lIns="50800" bIns="50800" rIns="50800"/>
            <a:lstStyle/>
            <a:p>
              <a:pPr algn="ctr">
                <a:lnSpc>
                  <a:spcPts val="3032"/>
                </a:lnSpc>
              </a:pPr>
              <a:r>
                <a:rPr lang="en-US" sz="2166">
                  <a:solidFill>
                    <a:srgbClr val="000000"/>
                  </a:solidFill>
                  <a:latin typeface="Roboto Slab"/>
                  <a:ea typeface="Roboto Slab"/>
                  <a:cs typeface="Roboto Slab"/>
                  <a:sym typeface="Roboto Slab"/>
                </a:rPr>
                <a:t>Duplicate records occur when the same data entry appears more than once, such as the same customer, order, or value repeated unnecessarily.</a:t>
              </a:r>
            </a:p>
          </p:txBody>
        </p:sp>
      </p:grpSp>
      <p:grpSp>
        <p:nvGrpSpPr>
          <p:cNvPr name="Group 17" id="17"/>
          <p:cNvGrpSpPr/>
          <p:nvPr/>
        </p:nvGrpSpPr>
        <p:grpSpPr>
          <a:xfrm rot="0">
            <a:off x="11586779" y="1777517"/>
            <a:ext cx="4108584" cy="1238584"/>
            <a:chOff x="0" y="0"/>
            <a:chExt cx="1082096" cy="326211"/>
          </a:xfrm>
        </p:grpSpPr>
        <p:sp>
          <p:nvSpPr>
            <p:cNvPr name="Freeform 18" id="18"/>
            <p:cNvSpPr/>
            <p:nvPr/>
          </p:nvSpPr>
          <p:spPr>
            <a:xfrm flipH="false" flipV="false" rot="0">
              <a:off x="0" y="0"/>
              <a:ext cx="1082096" cy="326211"/>
            </a:xfrm>
            <a:custGeom>
              <a:avLst/>
              <a:gdLst/>
              <a:ahLst/>
              <a:cxnLst/>
              <a:rect r="r" b="b" t="t" l="l"/>
              <a:pathLst>
                <a:path h="326211" w="1082096">
                  <a:moveTo>
                    <a:pt x="56530" y="0"/>
                  </a:moveTo>
                  <a:lnTo>
                    <a:pt x="1025566" y="0"/>
                  </a:lnTo>
                  <a:cubicBezTo>
                    <a:pt x="1040559" y="0"/>
                    <a:pt x="1054937" y="5956"/>
                    <a:pt x="1065539" y="16557"/>
                  </a:cubicBezTo>
                  <a:cubicBezTo>
                    <a:pt x="1076140" y="27159"/>
                    <a:pt x="1082096" y="41537"/>
                    <a:pt x="1082096" y="56530"/>
                  </a:cubicBezTo>
                  <a:lnTo>
                    <a:pt x="1082096" y="269682"/>
                  </a:lnTo>
                  <a:cubicBezTo>
                    <a:pt x="1082096" y="284674"/>
                    <a:pt x="1076140" y="299053"/>
                    <a:pt x="1065539" y="309654"/>
                  </a:cubicBezTo>
                  <a:cubicBezTo>
                    <a:pt x="1054937" y="320256"/>
                    <a:pt x="1040559" y="326211"/>
                    <a:pt x="1025566" y="326211"/>
                  </a:cubicBezTo>
                  <a:lnTo>
                    <a:pt x="56530" y="326211"/>
                  </a:lnTo>
                  <a:cubicBezTo>
                    <a:pt x="25309" y="326211"/>
                    <a:pt x="0" y="300902"/>
                    <a:pt x="0" y="269682"/>
                  </a:cubicBezTo>
                  <a:lnTo>
                    <a:pt x="0" y="56530"/>
                  </a:lnTo>
                  <a:cubicBezTo>
                    <a:pt x="0" y="41537"/>
                    <a:pt x="5956" y="27159"/>
                    <a:pt x="16557" y="16557"/>
                  </a:cubicBezTo>
                  <a:cubicBezTo>
                    <a:pt x="27159" y="5956"/>
                    <a:pt x="41537" y="0"/>
                    <a:pt x="56530" y="0"/>
                  </a:cubicBezTo>
                  <a:close/>
                </a:path>
              </a:pathLst>
            </a:custGeom>
            <a:solidFill>
              <a:srgbClr val="5B7ABE"/>
            </a:solidFill>
          </p:spPr>
        </p:sp>
        <p:sp>
          <p:nvSpPr>
            <p:cNvPr name="TextBox 19" id="19"/>
            <p:cNvSpPr txBox="true"/>
            <p:nvPr/>
          </p:nvSpPr>
          <p:spPr>
            <a:xfrm>
              <a:off x="0" y="-47625"/>
              <a:ext cx="1082096" cy="373836"/>
            </a:xfrm>
            <a:prstGeom prst="rect">
              <a:avLst/>
            </a:prstGeom>
          </p:spPr>
          <p:txBody>
            <a:bodyPr anchor="ctr" rtlCol="false" tIns="50800" lIns="50800" bIns="50800" rIns="50800"/>
            <a:lstStyle/>
            <a:p>
              <a:pPr algn="ctr">
                <a:lnSpc>
                  <a:spcPts val="3032"/>
                </a:lnSpc>
              </a:pPr>
            </a:p>
          </p:txBody>
        </p:sp>
      </p:grpSp>
      <p:grpSp>
        <p:nvGrpSpPr>
          <p:cNvPr name="Group 20" id="20"/>
          <p:cNvGrpSpPr/>
          <p:nvPr/>
        </p:nvGrpSpPr>
        <p:grpSpPr>
          <a:xfrm rot="0">
            <a:off x="9805436" y="3242699"/>
            <a:ext cx="7671270" cy="1413621"/>
            <a:chOff x="0" y="0"/>
            <a:chExt cx="2020417" cy="372312"/>
          </a:xfrm>
        </p:grpSpPr>
        <p:sp>
          <p:nvSpPr>
            <p:cNvPr name="Freeform 21" id="21"/>
            <p:cNvSpPr/>
            <p:nvPr/>
          </p:nvSpPr>
          <p:spPr>
            <a:xfrm flipH="false" flipV="false" rot="0">
              <a:off x="0" y="0"/>
              <a:ext cx="2020417" cy="372312"/>
            </a:xfrm>
            <a:custGeom>
              <a:avLst/>
              <a:gdLst/>
              <a:ahLst/>
              <a:cxnLst/>
              <a:rect r="r" b="b" t="t" l="l"/>
              <a:pathLst>
                <a:path h="372312" w="2020417">
                  <a:moveTo>
                    <a:pt x="30276" y="0"/>
                  </a:moveTo>
                  <a:lnTo>
                    <a:pt x="1990141" y="0"/>
                  </a:lnTo>
                  <a:cubicBezTo>
                    <a:pt x="1998170" y="0"/>
                    <a:pt x="2005871" y="3190"/>
                    <a:pt x="2011549" y="8868"/>
                  </a:cubicBezTo>
                  <a:cubicBezTo>
                    <a:pt x="2017227" y="14546"/>
                    <a:pt x="2020417" y="22247"/>
                    <a:pt x="2020417" y="30276"/>
                  </a:cubicBezTo>
                  <a:lnTo>
                    <a:pt x="2020417" y="342035"/>
                  </a:lnTo>
                  <a:cubicBezTo>
                    <a:pt x="2020417" y="350065"/>
                    <a:pt x="2017227" y="357766"/>
                    <a:pt x="2011549" y="363444"/>
                  </a:cubicBezTo>
                  <a:cubicBezTo>
                    <a:pt x="2005871" y="369122"/>
                    <a:pt x="1998170" y="372312"/>
                    <a:pt x="1990141" y="372312"/>
                  </a:cubicBezTo>
                  <a:lnTo>
                    <a:pt x="30276" y="372312"/>
                  </a:lnTo>
                  <a:cubicBezTo>
                    <a:pt x="22247" y="372312"/>
                    <a:pt x="14546" y="369122"/>
                    <a:pt x="8868" y="363444"/>
                  </a:cubicBezTo>
                  <a:cubicBezTo>
                    <a:pt x="3190" y="357766"/>
                    <a:pt x="0" y="350065"/>
                    <a:pt x="0" y="342035"/>
                  </a:cubicBezTo>
                  <a:lnTo>
                    <a:pt x="0" y="30276"/>
                  </a:lnTo>
                  <a:cubicBezTo>
                    <a:pt x="0" y="22247"/>
                    <a:pt x="3190" y="14546"/>
                    <a:pt x="8868" y="8868"/>
                  </a:cubicBezTo>
                  <a:cubicBezTo>
                    <a:pt x="14546" y="3190"/>
                    <a:pt x="22247" y="0"/>
                    <a:pt x="30276" y="0"/>
                  </a:cubicBezTo>
                  <a:close/>
                </a:path>
              </a:pathLst>
            </a:custGeom>
            <a:solidFill>
              <a:srgbClr val="ECE1D7"/>
            </a:solidFill>
          </p:spPr>
        </p:sp>
        <p:sp>
          <p:nvSpPr>
            <p:cNvPr name="TextBox 22" id="22"/>
            <p:cNvSpPr txBox="true"/>
            <p:nvPr/>
          </p:nvSpPr>
          <p:spPr>
            <a:xfrm>
              <a:off x="0" y="-47625"/>
              <a:ext cx="2020417" cy="419937"/>
            </a:xfrm>
            <a:prstGeom prst="rect">
              <a:avLst/>
            </a:prstGeom>
          </p:spPr>
          <p:txBody>
            <a:bodyPr anchor="ctr" rtlCol="false" tIns="50800" lIns="50800" bIns="50800" rIns="50800"/>
            <a:lstStyle/>
            <a:p>
              <a:pPr algn="ctr">
                <a:lnSpc>
                  <a:spcPts val="3032"/>
                </a:lnSpc>
              </a:pPr>
              <a:r>
                <a:rPr lang="en-US" sz="2166">
                  <a:solidFill>
                    <a:srgbClr val="000000"/>
                  </a:solidFill>
                  <a:latin typeface="Roboto Slab"/>
                  <a:ea typeface="Roboto Slab"/>
                  <a:cs typeface="Roboto Slab"/>
                  <a:sym typeface="Roboto Slab"/>
                </a:rPr>
                <a:t>Null values are empty or missing fields in the dataset </a:t>
              </a:r>
            </a:p>
            <a:p>
              <a:pPr algn="ctr">
                <a:lnSpc>
                  <a:spcPts val="3032"/>
                </a:lnSpc>
              </a:pPr>
              <a:r>
                <a:rPr lang="en-US" sz="2166">
                  <a:solidFill>
                    <a:srgbClr val="000000"/>
                  </a:solidFill>
                  <a:latin typeface="Roboto Slab"/>
                  <a:ea typeface="Roboto Slab"/>
                  <a:cs typeface="Roboto Slab"/>
                  <a:sym typeface="Roboto Slab"/>
                </a:rPr>
                <a:t>( missing name, missing price, empty date, .…)</a:t>
              </a:r>
            </a:p>
          </p:txBody>
        </p:sp>
      </p:grpSp>
      <p:grpSp>
        <p:nvGrpSpPr>
          <p:cNvPr name="Group 23" id="23"/>
          <p:cNvGrpSpPr/>
          <p:nvPr/>
        </p:nvGrpSpPr>
        <p:grpSpPr>
          <a:xfrm rot="0">
            <a:off x="9805436" y="4882917"/>
            <a:ext cx="7671270" cy="2932355"/>
            <a:chOff x="0" y="0"/>
            <a:chExt cx="2020417" cy="772307"/>
          </a:xfrm>
        </p:grpSpPr>
        <p:sp>
          <p:nvSpPr>
            <p:cNvPr name="Freeform 24" id="24"/>
            <p:cNvSpPr/>
            <p:nvPr/>
          </p:nvSpPr>
          <p:spPr>
            <a:xfrm flipH="false" flipV="false" rot="0">
              <a:off x="0" y="0"/>
              <a:ext cx="2020417" cy="772307"/>
            </a:xfrm>
            <a:custGeom>
              <a:avLst/>
              <a:gdLst/>
              <a:ahLst/>
              <a:cxnLst/>
              <a:rect r="r" b="b" t="t" l="l"/>
              <a:pathLst>
                <a:path h="772307" w="2020417">
                  <a:moveTo>
                    <a:pt x="30276" y="0"/>
                  </a:moveTo>
                  <a:lnTo>
                    <a:pt x="1990141" y="0"/>
                  </a:lnTo>
                  <a:cubicBezTo>
                    <a:pt x="1998170" y="0"/>
                    <a:pt x="2005871" y="3190"/>
                    <a:pt x="2011549" y="8868"/>
                  </a:cubicBezTo>
                  <a:cubicBezTo>
                    <a:pt x="2017227" y="14546"/>
                    <a:pt x="2020417" y="22247"/>
                    <a:pt x="2020417" y="30276"/>
                  </a:cubicBezTo>
                  <a:lnTo>
                    <a:pt x="2020417" y="742031"/>
                  </a:lnTo>
                  <a:cubicBezTo>
                    <a:pt x="2020417" y="750061"/>
                    <a:pt x="2017227" y="757762"/>
                    <a:pt x="2011549" y="763440"/>
                  </a:cubicBezTo>
                  <a:cubicBezTo>
                    <a:pt x="2005871" y="769118"/>
                    <a:pt x="1998170" y="772307"/>
                    <a:pt x="1990141" y="772307"/>
                  </a:cubicBezTo>
                  <a:lnTo>
                    <a:pt x="30276" y="772307"/>
                  </a:lnTo>
                  <a:cubicBezTo>
                    <a:pt x="22247" y="772307"/>
                    <a:pt x="14546" y="769118"/>
                    <a:pt x="8868" y="763440"/>
                  </a:cubicBezTo>
                  <a:cubicBezTo>
                    <a:pt x="3190" y="757762"/>
                    <a:pt x="0" y="750061"/>
                    <a:pt x="0" y="742031"/>
                  </a:cubicBezTo>
                  <a:lnTo>
                    <a:pt x="0" y="30276"/>
                  </a:lnTo>
                  <a:cubicBezTo>
                    <a:pt x="0" y="22247"/>
                    <a:pt x="3190" y="14546"/>
                    <a:pt x="8868" y="8868"/>
                  </a:cubicBezTo>
                  <a:cubicBezTo>
                    <a:pt x="14546" y="3190"/>
                    <a:pt x="22247" y="0"/>
                    <a:pt x="30276" y="0"/>
                  </a:cubicBezTo>
                  <a:close/>
                </a:path>
              </a:pathLst>
            </a:custGeom>
            <a:solidFill>
              <a:srgbClr val="ECE1D7"/>
            </a:solidFill>
          </p:spPr>
        </p:sp>
        <p:sp>
          <p:nvSpPr>
            <p:cNvPr name="TextBox 25" id="25"/>
            <p:cNvSpPr txBox="true"/>
            <p:nvPr/>
          </p:nvSpPr>
          <p:spPr>
            <a:xfrm>
              <a:off x="0" y="-47625"/>
              <a:ext cx="2020417" cy="819932"/>
            </a:xfrm>
            <a:prstGeom prst="rect">
              <a:avLst/>
            </a:prstGeom>
          </p:spPr>
          <p:txBody>
            <a:bodyPr anchor="ctr" rtlCol="false" tIns="50800" lIns="50800" bIns="50800" rIns="50800"/>
            <a:lstStyle/>
            <a:p>
              <a:pPr algn="ctr">
                <a:lnSpc>
                  <a:spcPts val="3032"/>
                </a:lnSpc>
              </a:pPr>
            </a:p>
          </p:txBody>
        </p:sp>
      </p:grpSp>
      <p:sp>
        <p:nvSpPr>
          <p:cNvPr name="Freeform 26" id="26"/>
          <p:cNvSpPr/>
          <p:nvPr/>
        </p:nvSpPr>
        <p:spPr>
          <a:xfrm flipH="false" flipV="false" rot="0">
            <a:off x="10011772" y="5765325"/>
            <a:ext cx="7258599" cy="1167538"/>
          </a:xfrm>
          <a:custGeom>
            <a:avLst/>
            <a:gdLst/>
            <a:ahLst/>
            <a:cxnLst/>
            <a:rect r="r" b="b" t="t" l="l"/>
            <a:pathLst>
              <a:path h="1167538" w="7258599">
                <a:moveTo>
                  <a:pt x="0" y="0"/>
                </a:moveTo>
                <a:lnTo>
                  <a:pt x="7258598" y="0"/>
                </a:lnTo>
                <a:lnTo>
                  <a:pt x="7258598" y="1167538"/>
                </a:lnTo>
                <a:lnTo>
                  <a:pt x="0" y="1167538"/>
                </a:lnTo>
                <a:lnTo>
                  <a:pt x="0" y="0"/>
                </a:lnTo>
                <a:close/>
              </a:path>
            </a:pathLst>
          </a:custGeom>
          <a:blipFill>
            <a:blip r:embed="rId11"/>
            <a:stretch>
              <a:fillRect l="-49801" t="0" r="-75951" b="0"/>
            </a:stretch>
          </a:blipFill>
        </p:spPr>
      </p:sp>
      <p:sp>
        <p:nvSpPr>
          <p:cNvPr name="TextBox 27" id="27"/>
          <p:cNvSpPr txBox="true"/>
          <p:nvPr/>
        </p:nvSpPr>
        <p:spPr>
          <a:xfrm rot="0">
            <a:off x="2850835" y="2048058"/>
            <a:ext cx="3472951" cy="630829"/>
          </a:xfrm>
          <a:prstGeom prst="rect">
            <a:avLst/>
          </a:prstGeom>
        </p:spPr>
        <p:txBody>
          <a:bodyPr anchor="t" rtlCol="false" tIns="0" lIns="0" bIns="0" rIns="0">
            <a:spAutoFit/>
          </a:bodyPr>
          <a:lstStyle/>
          <a:p>
            <a:pPr algn="ctr">
              <a:lnSpc>
                <a:spcPts val="5292"/>
              </a:lnSpc>
            </a:pPr>
            <a:r>
              <a:rPr lang="en-US" b="true" sz="3780">
                <a:solidFill>
                  <a:srgbClr val="FBFCFE"/>
                </a:solidFill>
                <a:latin typeface="Red Hat Display Bold"/>
                <a:ea typeface="Red Hat Display Bold"/>
                <a:cs typeface="Red Hat Display Bold"/>
                <a:sym typeface="Red Hat Display Bold"/>
              </a:rPr>
              <a:t>Duplicate</a:t>
            </a:r>
          </a:p>
        </p:txBody>
      </p:sp>
      <p:sp>
        <p:nvSpPr>
          <p:cNvPr name="TextBox 28" id="28"/>
          <p:cNvSpPr txBox="true"/>
          <p:nvPr/>
        </p:nvSpPr>
        <p:spPr>
          <a:xfrm rot="0">
            <a:off x="11904595" y="2048058"/>
            <a:ext cx="3472951" cy="630829"/>
          </a:xfrm>
          <a:prstGeom prst="rect">
            <a:avLst/>
          </a:prstGeom>
        </p:spPr>
        <p:txBody>
          <a:bodyPr anchor="t" rtlCol="false" tIns="0" lIns="0" bIns="0" rIns="0">
            <a:spAutoFit/>
          </a:bodyPr>
          <a:lstStyle/>
          <a:p>
            <a:pPr algn="ctr">
              <a:lnSpc>
                <a:spcPts val="5292"/>
              </a:lnSpc>
            </a:pPr>
            <a:r>
              <a:rPr lang="en-US" b="true" sz="3780">
                <a:solidFill>
                  <a:srgbClr val="FBFCFE"/>
                </a:solidFill>
                <a:latin typeface="Red Hat Display Bold"/>
                <a:ea typeface="Red Hat Display Bold"/>
                <a:cs typeface="Red Hat Display Bold"/>
                <a:sym typeface="Red Hat Display Bold"/>
              </a:rPr>
              <a:t>Null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715246">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175026">
            <a:off x="16376299" y="7891685"/>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26878">
            <a:off x="712077" y="-541140"/>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80749" y="5396856"/>
            <a:ext cx="2460369" cy="3547110"/>
          </a:xfrm>
          <a:custGeom>
            <a:avLst/>
            <a:gdLst/>
            <a:ahLst/>
            <a:cxnLst/>
            <a:rect r="r" b="b" t="t" l="l"/>
            <a:pathLst>
              <a:path h="3547110" w="2460369">
                <a:moveTo>
                  <a:pt x="0" y="0"/>
                </a:moveTo>
                <a:lnTo>
                  <a:pt x="2460370" y="0"/>
                </a:lnTo>
                <a:lnTo>
                  <a:pt x="2460370" y="3547110"/>
                </a:lnTo>
                <a:lnTo>
                  <a:pt x="0" y="3547110"/>
                </a:lnTo>
                <a:lnTo>
                  <a:pt x="0" y="0"/>
                </a:lnTo>
                <a:close/>
              </a:path>
            </a:pathLst>
          </a:custGeom>
          <a:blipFill>
            <a:blip r:embed="rId10"/>
            <a:stretch>
              <a:fillRect l="0" t="-96582" r="0" b="-86372"/>
            </a:stretch>
          </a:blipFill>
        </p:spPr>
      </p:sp>
      <p:grpSp>
        <p:nvGrpSpPr>
          <p:cNvPr name="Group 7" id="7"/>
          <p:cNvGrpSpPr/>
          <p:nvPr/>
        </p:nvGrpSpPr>
        <p:grpSpPr>
          <a:xfrm rot="0">
            <a:off x="4959341" y="1736623"/>
            <a:ext cx="8369318" cy="1238584"/>
            <a:chOff x="0" y="0"/>
            <a:chExt cx="2204265" cy="326211"/>
          </a:xfrm>
        </p:grpSpPr>
        <p:sp>
          <p:nvSpPr>
            <p:cNvPr name="Freeform 8" id="8"/>
            <p:cNvSpPr/>
            <p:nvPr/>
          </p:nvSpPr>
          <p:spPr>
            <a:xfrm flipH="false" flipV="false" rot="0">
              <a:off x="0" y="0"/>
              <a:ext cx="2204265" cy="326211"/>
            </a:xfrm>
            <a:custGeom>
              <a:avLst/>
              <a:gdLst/>
              <a:ahLst/>
              <a:cxnLst/>
              <a:rect r="r" b="b" t="t" l="l"/>
              <a:pathLst>
                <a:path h="326211" w="2204265">
                  <a:moveTo>
                    <a:pt x="27751" y="0"/>
                  </a:moveTo>
                  <a:lnTo>
                    <a:pt x="2176514" y="0"/>
                  </a:lnTo>
                  <a:cubicBezTo>
                    <a:pt x="2183874" y="0"/>
                    <a:pt x="2190932" y="2924"/>
                    <a:pt x="2196136" y="8128"/>
                  </a:cubicBezTo>
                  <a:cubicBezTo>
                    <a:pt x="2201341" y="13332"/>
                    <a:pt x="2204265" y="20391"/>
                    <a:pt x="2204265" y="27751"/>
                  </a:cubicBezTo>
                  <a:lnTo>
                    <a:pt x="2204265" y="298460"/>
                  </a:lnTo>
                  <a:cubicBezTo>
                    <a:pt x="2204265" y="305820"/>
                    <a:pt x="2201341" y="312879"/>
                    <a:pt x="2196136" y="318083"/>
                  </a:cubicBezTo>
                  <a:cubicBezTo>
                    <a:pt x="2190932" y="323288"/>
                    <a:pt x="2183874" y="326211"/>
                    <a:pt x="2176514" y="326211"/>
                  </a:cubicBezTo>
                  <a:lnTo>
                    <a:pt x="27751" y="326211"/>
                  </a:lnTo>
                  <a:cubicBezTo>
                    <a:pt x="20391" y="326211"/>
                    <a:pt x="13332" y="323288"/>
                    <a:pt x="8128" y="318083"/>
                  </a:cubicBezTo>
                  <a:cubicBezTo>
                    <a:pt x="2924" y="312879"/>
                    <a:pt x="0" y="305820"/>
                    <a:pt x="0" y="298460"/>
                  </a:cubicBezTo>
                  <a:lnTo>
                    <a:pt x="0" y="27751"/>
                  </a:lnTo>
                  <a:cubicBezTo>
                    <a:pt x="0" y="20391"/>
                    <a:pt x="2924" y="13332"/>
                    <a:pt x="8128" y="8128"/>
                  </a:cubicBezTo>
                  <a:cubicBezTo>
                    <a:pt x="13332" y="2924"/>
                    <a:pt x="20391" y="0"/>
                    <a:pt x="27751" y="0"/>
                  </a:cubicBezTo>
                  <a:close/>
                </a:path>
              </a:pathLst>
            </a:custGeom>
            <a:solidFill>
              <a:srgbClr val="5B7ABE"/>
            </a:solidFill>
          </p:spPr>
        </p:sp>
        <p:sp>
          <p:nvSpPr>
            <p:cNvPr name="TextBox 9" id="9"/>
            <p:cNvSpPr txBox="true"/>
            <p:nvPr/>
          </p:nvSpPr>
          <p:spPr>
            <a:xfrm>
              <a:off x="0" y="-47625"/>
              <a:ext cx="2204265" cy="373836"/>
            </a:xfrm>
            <a:prstGeom prst="rect">
              <a:avLst/>
            </a:prstGeom>
          </p:spPr>
          <p:txBody>
            <a:bodyPr anchor="ctr" rtlCol="false" tIns="50800" lIns="50800" bIns="50800" rIns="50800"/>
            <a:lstStyle/>
            <a:p>
              <a:pPr algn="ctr">
                <a:lnSpc>
                  <a:spcPts val="3032"/>
                </a:lnSpc>
              </a:pPr>
            </a:p>
          </p:txBody>
        </p:sp>
      </p:grpSp>
      <p:sp>
        <p:nvSpPr>
          <p:cNvPr name="Freeform 10" id="10"/>
          <p:cNvSpPr/>
          <p:nvPr/>
        </p:nvSpPr>
        <p:spPr>
          <a:xfrm flipH="false" flipV="false" rot="0">
            <a:off x="1462878" y="3137132"/>
            <a:ext cx="2096112" cy="2096112"/>
          </a:xfrm>
          <a:custGeom>
            <a:avLst/>
            <a:gdLst/>
            <a:ahLst/>
            <a:cxnLst/>
            <a:rect r="r" b="b" t="t" l="l"/>
            <a:pathLst>
              <a:path h="2096112" w="2096112">
                <a:moveTo>
                  <a:pt x="0" y="0"/>
                </a:moveTo>
                <a:lnTo>
                  <a:pt x="2096112" y="0"/>
                </a:lnTo>
                <a:lnTo>
                  <a:pt x="2096112" y="2096112"/>
                </a:lnTo>
                <a:lnTo>
                  <a:pt x="0" y="2096112"/>
                </a:lnTo>
                <a:lnTo>
                  <a:pt x="0" y="0"/>
                </a:lnTo>
                <a:close/>
              </a:path>
            </a:pathLst>
          </a:custGeom>
          <a:blipFill>
            <a:blip r:embed="rId11">
              <a:alphaModFix amt="48000"/>
              <a:extLst>
                <a:ext uri="{96DAC541-7B7A-43D3-8B79-37D633B846F1}">
                  <asvg:svgBlip xmlns:asvg="http://schemas.microsoft.com/office/drawing/2016/SVG/main" r:embed="rId12"/>
                </a:ext>
              </a:extLst>
            </a:blip>
            <a:stretch>
              <a:fillRect l="0" t="0" r="0" b="0"/>
            </a:stretch>
          </a:blipFill>
        </p:spPr>
      </p:sp>
      <p:grpSp>
        <p:nvGrpSpPr>
          <p:cNvPr name="Group 11" id="11"/>
          <p:cNvGrpSpPr/>
          <p:nvPr/>
        </p:nvGrpSpPr>
        <p:grpSpPr>
          <a:xfrm rot="0">
            <a:off x="1729958" y="3404212"/>
            <a:ext cx="1561951" cy="156195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14" id="14"/>
          <p:cNvSpPr/>
          <p:nvPr/>
        </p:nvSpPr>
        <p:spPr>
          <a:xfrm flipH="false" flipV="false" rot="0">
            <a:off x="5685129" y="3137132"/>
            <a:ext cx="2096112" cy="2096112"/>
          </a:xfrm>
          <a:custGeom>
            <a:avLst/>
            <a:gdLst/>
            <a:ahLst/>
            <a:cxnLst/>
            <a:rect r="r" b="b" t="t" l="l"/>
            <a:pathLst>
              <a:path h="2096112" w="2096112">
                <a:moveTo>
                  <a:pt x="0" y="0"/>
                </a:moveTo>
                <a:lnTo>
                  <a:pt x="2096112" y="0"/>
                </a:lnTo>
                <a:lnTo>
                  <a:pt x="2096112" y="2096112"/>
                </a:lnTo>
                <a:lnTo>
                  <a:pt x="0" y="2096112"/>
                </a:lnTo>
                <a:lnTo>
                  <a:pt x="0" y="0"/>
                </a:lnTo>
                <a:close/>
              </a:path>
            </a:pathLst>
          </a:custGeom>
          <a:blipFill>
            <a:blip r:embed="rId11">
              <a:alphaModFix amt="48000"/>
              <a:extLst>
                <a:ext uri="{96DAC541-7B7A-43D3-8B79-37D633B846F1}">
                  <asvg:svgBlip xmlns:asvg="http://schemas.microsoft.com/office/drawing/2016/SVG/main" r:embed="rId12"/>
                </a:ext>
              </a:extLst>
            </a:blip>
            <a:stretch>
              <a:fillRect l="0" t="0" r="0" b="0"/>
            </a:stretch>
          </a:blipFill>
        </p:spPr>
      </p:sp>
      <p:grpSp>
        <p:nvGrpSpPr>
          <p:cNvPr name="Group 15" id="15"/>
          <p:cNvGrpSpPr/>
          <p:nvPr/>
        </p:nvGrpSpPr>
        <p:grpSpPr>
          <a:xfrm rot="0">
            <a:off x="5952210" y="3404212"/>
            <a:ext cx="1561951" cy="156195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18" id="18"/>
          <p:cNvSpPr/>
          <p:nvPr/>
        </p:nvSpPr>
        <p:spPr>
          <a:xfrm flipH="false" flipV="false" rot="0">
            <a:off x="9905316" y="3137132"/>
            <a:ext cx="2096112" cy="2096112"/>
          </a:xfrm>
          <a:custGeom>
            <a:avLst/>
            <a:gdLst/>
            <a:ahLst/>
            <a:cxnLst/>
            <a:rect r="r" b="b" t="t" l="l"/>
            <a:pathLst>
              <a:path h="2096112" w="2096112">
                <a:moveTo>
                  <a:pt x="0" y="0"/>
                </a:moveTo>
                <a:lnTo>
                  <a:pt x="2096113" y="0"/>
                </a:lnTo>
                <a:lnTo>
                  <a:pt x="2096113" y="2096112"/>
                </a:lnTo>
                <a:lnTo>
                  <a:pt x="0" y="2096112"/>
                </a:lnTo>
                <a:lnTo>
                  <a:pt x="0" y="0"/>
                </a:lnTo>
                <a:close/>
              </a:path>
            </a:pathLst>
          </a:custGeom>
          <a:blipFill>
            <a:blip r:embed="rId11">
              <a:alphaModFix amt="48000"/>
              <a:extLst>
                <a:ext uri="{96DAC541-7B7A-43D3-8B79-37D633B846F1}">
                  <asvg:svgBlip xmlns:asvg="http://schemas.microsoft.com/office/drawing/2016/SVG/main" r:embed="rId12"/>
                </a:ext>
              </a:extLst>
            </a:blip>
            <a:stretch>
              <a:fillRect l="0" t="0" r="0" b="0"/>
            </a:stretch>
          </a:blipFill>
        </p:spPr>
      </p:sp>
      <p:grpSp>
        <p:nvGrpSpPr>
          <p:cNvPr name="Group 19" id="19"/>
          <p:cNvGrpSpPr/>
          <p:nvPr/>
        </p:nvGrpSpPr>
        <p:grpSpPr>
          <a:xfrm rot="0">
            <a:off x="10172397" y="3404212"/>
            <a:ext cx="1561951" cy="156195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22" id="22"/>
          <p:cNvSpPr/>
          <p:nvPr/>
        </p:nvSpPr>
        <p:spPr>
          <a:xfrm flipH="false" flipV="false" rot="0">
            <a:off x="14125504" y="3137132"/>
            <a:ext cx="2096112" cy="2096112"/>
          </a:xfrm>
          <a:custGeom>
            <a:avLst/>
            <a:gdLst/>
            <a:ahLst/>
            <a:cxnLst/>
            <a:rect r="r" b="b" t="t" l="l"/>
            <a:pathLst>
              <a:path h="2096112" w="2096112">
                <a:moveTo>
                  <a:pt x="0" y="0"/>
                </a:moveTo>
                <a:lnTo>
                  <a:pt x="2096112" y="0"/>
                </a:lnTo>
                <a:lnTo>
                  <a:pt x="2096112" y="2096112"/>
                </a:lnTo>
                <a:lnTo>
                  <a:pt x="0" y="2096112"/>
                </a:lnTo>
                <a:lnTo>
                  <a:pt x="0" y="0"/>
                </a:lnTo>
                <a:close/>
              </a:path>
            </a:pathLst>
          </a:custGeom>
          <a:blipFill>
            <a:blip r:embed="rId11">
              <a:alphaModFix amt="48000"/>
              <a:extLst>
                <a:ext uri="{96DAC541-7B7A-43D3-8B79-37D633B846F1}">
                  <asvg:svgBlip xmlns:asvg="http://schemas.microsoft.com/office/drawing/2016/SVG/main" r:embed="rId12"/>
                </a:ext>
              </a:extLst>
            </a:blip>
            <a:stretch>
              <a:fillRect l="0" t="0" r="0" b="0"/>
            </a:stretch>
          </a:blipFill>
        </p:spPr>
      </p:sp>
      <p:grpSp>
        <p:nvGrpSpPr>
          <p:cNvPr name="Group 23" id="23"/>
          <p:cNvGrpSpPr/>
          <p:nvPr/>
        </p:nvGrpSpPr>
        <p:grpSpPr>
          <a:xfrm rot="0">
            <a:off x="14392584" y="3404212"/>
            <a:ext cx="1561951" cy="156195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5" id="25"/>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26" id="26"/>
          <p:cNvSpPr/>
          <p:nvPr/>
        </p:nvSpPr>
        <p:spPr>
          <a:xfrm flipH="false" flipV="false" rot="0">
            <a:off x="5745884" y="5396856"/>
            <a:ext cx="1974602" cy="3559040"/>
          </a:xfrm>
          <a:custGeom>
            <a:avLst/>
            <a:gdLst/>
            <a:ahLst/>
            <a:cxnLst/>
            <a:rect r="r" b="b" t="t" l="l"/>
            <a:pathLst>
              <a:path h="3559040" w="1974602">
                <a:moveTo>
                  <a:pt x="0" y="0"/>
                </a:moveTo>
                <a:lnTo>
                  <a:pt x="1974603" y="0"/>
                </a:lnTo>
                <a:lnTo>
                  <a:pt x="1974603" y="3559041"/>
                </a:lnTo>
                <a:lnTo>
                  <a:pt x="0" y="3559041"/>
                </a:lnTo>
                <a:lnTo>
                  <a:pt x="0" y="0"/>
                </a:lnTo>
                <a:close/>
              </a:path>
            </a:pathLst>
          </a:custGeom>
          <a:blipFill>
            <a:blip r:embed="rId13"/>
            <a:stretch>
              <a:fillRect l="0" t="-86276" r="0" b="-36075"/>
            </a:stretch>
          </a:blipFill>
        </p:spPr>
      </p:sp>
      <p:sp>
        <p:nvSpPr>
          <p:cNvPr name="Freeform 27" id="27"/>
          <p:cNvSpPr/>
          <p:nvPr/>
        </p:nvSpPr>
        <p:spPr>
          <a:xfrm flipH="false" flipV="false" rot="0">
            <a:off x="9905316" y="5396856"/>
            <a:ext cx="2283641" cy="3686809"/>
          </a:xfrm>
          <a:custGeom>
            <a:avLst/>
            <a:gdLst/>
            <a:ahLst/>
            <a:cxnLst/>
            <a:rect r="r" b="b" t="t" l="l"/>
            <a:pathLst>
              <a:path h="3686809" w="2283641">
                <a:moveTo>
                  <a:pt x="0" y="0"/>
                </a:moveTo>
                <a:lnTo>
                  <a:pt x="2283641" y="0"/>
                </a:lnTo>
                <a:lnTo>
                  <a:pt x="2283641" y="3686809"/>
                </a:lnTo>
                <a:lnTo>
                  <a:pt x="0" y="3686809"/>
                </a:lnTo>
                <a:lnTo>
                  <a:pt x="0" y="0"/>
                </a:lnTo>
                <a:close/>
              </a:path>
            </a:pathLst>
          </a:custGeom>
          <a:blipFill>
            <a:blip r:embed="rId14"/>
            <a:stretch>
              <a:fillRect l="0" t="-27393" r="0" b="0"/>
            </a:stretch>
          </a:blipFill>
        </p:spPr>
      </p:sp>
      <p:sp>
        <p:nvSpPr>
          <p:cNvPr name="Freeform 28" id="28"/>
          <p:cNvSpPr/>
          <p:nvPr/>
        </p:nvSpPr>
        <p:spPr>
          <a:xfrm flipH="false" flipV="false" rot="0">
            <a:off x="14093203" y="5396856"/>
            <a:ext cx="2160713" cy="3547110"/>
          </a:xfrm>
          <a:custGeom>
            <a:avLst/>
            <a:gdLst/>
            <a:ahLst/>
            <a:cxnLst/>
            <a:rect r="r" b="b" t="t" l="l"/>
            <a:pathLst>
              <a:path h="3547110" w="2160713">
                <a:moveTo>
                  <a:pt x="0" y="0"/>
                </a:moveTo>
                <a:lnTo>
                  <a:pt x="2160713" y="0"/>
                </a:lnTo>
                <a:lnTo>
                  <a:pt x="2160713" y="3547110"/>
                </a:lnTo>
                <a:lnTo>
                  <a:pt x="0" y="3547110"/>
                </a:lnTo>
                <a:lnTo>
                  <a:pt x="0" y="0"/>
                </a:lnTo>
                <a:close/>
              </a:path>
            </a:pathLst>
          </a:custGeom>
          <a:blipFill>
            <a:blip r:embed="rId15"/>
            <a:stretch>
              <a:fillRect l="0" t="0" r="0" b="-26588"/>
            </a:stretch>
          </a:blipFill>
        </p:spPr>
      </p:sp>
      <p:sp>
        <p:nvSpPr>
          <p:cNvPr name="TextBox 29" id="29"/>
          <p:cNvSpPr txBox="true"/>
          <p:nvPr/>
        </p:nvSpPr>
        <p:spPr>
          <a:xfrm rot="0">
            <a:off x="4646929" y="952500"/>
            <a:ext cx="8994142"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Unifying Data Formats</a:t>
            </a:r>
          </a:p>
        </p:txBody>
      </p:sp>
      <p:sp>
        <p:nvSpPr>
          <p:cNvPr name="TextBox 30" id="30"/>
          <p:cNvSpPr txBox="true"/>
          <p:nvPr/>
        </p:nvSpPr>
        <p:spPr>
          <a:xfrm rot="0">
            <a:off x="5212740" y="1794921"/>
            <a:ext cx="7862521" cy="1131588"/>
          </a:xfrm>
          <a:prstGeom prst="rect">
            <a:avLst/>
          </a:prstGeom>
        </p:spPr>
        <p:txBody>
          <a:bodyPr anchor="t" rtlCol="false" tIns="0" lIns="0" bIns="0" rIns="0">
            <a:spAutoFit/>
          </a:bodyPr>
          <a:lstStyle/>
          <a:p>
            <a:pPr algn="ctr">
              <a:lnSpc>
                <a:spcPts val="4603"/>
              </a:lnSpc>
            </a:pPr>
            <a:r>
              <a:rPr lang="en-US" b="true" sz="3288">
                <a:solidFill>
                  <a:srgbClr val="FBFCFE"/>
                </a:solidFill>
                <a:latin typeface="Red Hat Display Bold"/>
                <a:ea typeface="Red Hat Display Bold"/>
                <a:cs typeface="Red Hat Display Bold"/>
                <a:sym typeface="Red Hat Display Bold"/>
              </a:rPr>
              <a:t>The dataset contained inconsistent formatting across multiple fields</a:t>
            </a:r>
          </a:p>
        </p:txBody>
      </p:sp>
      <p:sp>
        <p:nvSpPr>
          <p:cNvPr name="TextBox 31" id="31"/>
          <p:cNvSpPr txBox="true"/>
          <p:nvPr/>
        </p:nvSpPr>
        <p:spPr>
          <a:xfrm rot="0">
            <a:off x="1802899" y="3711596"/>
            <a:ext cx="1416070" cy="928135"/>
          </a:xfrm>
          <a:prstGeom prst="rect">
            <a:avLst/>
          </a:prstGeom>
        </p:spPr>
        <p:txBody>
          <a:bodyPr anchor="t" rtlCol="false" tIns="0" lIns="0" bIns="0" rIns="0">
            <a:spAutoFit/>
          </a:bodyPr>
          <a:lstStyle/>
          <a:p>
            <a:pPr algn="ctr">
              <a:lnSpc>
                <a:spcPts val="2418"/>
              </a:lnSpc>
            </a:pPr>
            <a:r>
              <a:rPr lang="en-US" b="true" sz="1943">
                <a:solidFill>
                  <a:srgbClr val="2D2261"/>
                </a:solidFill>
                <a:latin typeface="Red Hat Display Bold"/>
                <a:ea typeface="Red Hat Display Bold"/>
                <a:cs typeface="Red Hat Display Bold"/>
                <a:sym typeface="Red Hat Display Bold"/>
              </a:rPr>
              <a:t>Multiple date formats</a:t>
            </a:r>
          </a:p>
        </p:txBody>
      </p:sp>
      <p:sp>
        <p:nvSpPr>
          <p:cNvPr name="TextBox 32" id="32"/>
          <p:cNvSpPr txBox="true"/>
          <p:nvPr/>
        </p:nvSpPr>
        <p:spPr>
          <a:xfrm rot="0">
            <a:off x="6025150" y="3711596"/>
            <a:ext cx="1416070" cy="928135"/>
          </a:xfrm>
          <a:prstGeom prst="rect">
            <a:avLst/>
          </a:prstGeom>
        </p:spPr>
        <p:txBody>
          <a:bodyPr anchor="t" rtlCol="false" tIns="0" lIns="0" bIns="0" rIns="0">
            <a:spAutoFit/>
          </a:bodyPr>
          <a:lstStyle/>
          <a:p>
            <a:pPr algn="ctr">
              <a:lnSpc>
                <a:spcPts val="2418"/>
              </a:lnSpc>
            </a:pPr>
            <a:r>
              <a:rPr lang="en-US" b="true" sz="1943">
                <a:solidFill>
                  <a:srgbClr val="2D2261"/>
                </a:solidFill>
                <a:latin typeface="Red Hat Display Bold"/>
                <a:ea typeface="Red Hat Display Bold"/>
                <a:cs typeface="Red Hat Display Bold"/>
                <a:sym typeface="Red Hat Display Bold"/>
              </a:rPr>
              <a:t>Numbers stored as text</a:t>
            </a:r>
          </a:p>
        </p:txBody>
      </p:sp>
      <p:sp>
        <p:nvSpPr>
          <p:cNvPr name="TextBox 33" id="33"/>
          <p:cNvSpPr txBox="true"/>
          <p:nvPr/>
        </p:nvSpPr>
        <p:spPr>
          <a:xfrm rot="0">
            <a:off x="10245337" y="3721121"/>
            <a:ext cx="1489011" cy="766162"/>
          </a:xfrm>
          <a:prstGeom prst="rect">
            <a:avLst/>
          </a:prstGeom>
        </p:spPr>
        <p:txBody>
          <a:bodyPr anchor="t" rtlCol="false" tIns="0" lIns="0" bIns="0" rIns="0">
            <a:spAutoFit/>
          </a:bodyPr>
          <a:lstStyle/>
          <a:p>
            <a:pPr algn="ctr">
              <a:lnSpc>
                <a:spcPts val="2012"/>
              </a:lnSpc>
            </a:pPr>
            <a:r>
              <a:rPr lang="en-US" b="true" sz="1617">
                <a:solidFill>
                  <a:srgbClr val="2D2261"/>
                </a:solidFill>
                <a:latin typeface="Red Hat Display Bold"/>
                <a:ea typeface="Red Hat Display Bold"/>
                <a:cs typeface="Red Hat Display Bold"/>
                <a:sym typeface="Red Hat Display Bold"/>
              </a:rPr>
              <a:t>Names with inconsistent capitalization</a:t>
            </a:r>
          </a:p>
        </p:txBody>
      </p:sp>
      <p:sp>
        <p:nvSpPr>
          <p:cNvPr name="TextBox 34" id="34"/>
          <p:cNvSpPr txBox="true"/>
          <p:nvPr/>
        </p:nvSpPr>
        <p:spPr>
          <a:xfrm rot="0">
            <a:off x="14521971" y="3567429"/>
            <a:ext cx="1303177" cy="1235518"/>
          </a:xfrm>
          <a:prstGeom prst="rect">
            <a:avLst/>
          </a:prstGeom>
        </p:spPr>
        <p:txBody>
          <a:bodyPr anchor="t" rtlCol="false" tIns="0" lIns="0" bIns="0" rIns="0">
            <a:spAutoFit/>
          </a:bodyPr>
          <a:lstStyle/>
          <a:p>
            <a:pPr algn="ctr">
              <a:lnSpc>
                <a:spcPts val="1962"/>
              </a:lnSpc>
            </a:pPr>
            <a:r>
              <a:rPr lang="en-US" b="true" sz="1577">
                <a:solidFill>
                  <a:srgbClr val="2D2261"/>
                </a:solidFill>
                <a:latin typeface="Red Hat Display Bold"/>
                <a:ea typeface="Red Hat Display Bold"/>
                <a:cs typeface="Red Hat Display Bold"/>
                <a:sym typeface="Red Hat Display Bold"/>
              </a:rPr>
              <a:t>Extra symbols and unwanted spaces in text fields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715246">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175026">
            <a:off x="16376299" y="7891685"/>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220441" y="2578448"/>
            <a:ext cx="7137400" cy="6069600"/>
          </a:xfrm>
          <a:custGeom>
            <a:avLst/>
            <a:gdLst/>
            <a:ahLst/>
            <a:cxnLst/>
            <a:rect r="r" b="b" t="t" l="l"/>
            <a:pathLst>
              <a:path h="6069600" w="7137400">
                <a:moveTo>
                  <a:pt x="0" y="0"/>
                </a:moveTo>
                <a:lnTo>
                  <a:pt x="7137400" y="0"/>
                </a:lnTo>
                <a:lnTo>
                  <a:pt x="7137400" y="6069600"/>
                </a:lnTo>
                <a:lnTo>
                  <a:pt x="0" y="6069600"/>
                </a:lnTo>
                <a:lnTo>
                  <a:pt x="0" y="0"/>
                </a:lnTo>
                <a:close/>
              </a:path>
            </a:pathLst>
          </a:custGeom>
          <a:blipFill>
            <a:blip r:embed="rId10"/>
            <a:stretch>
              <a:fillRect l="0" t="0" r="0" b="0"/>
            </a:stretch>
          </a:blipFill>
        </p:spPr>
      </p:sp>
      <p:sp>
        <p:nvSpPr>
          <p:cNvPr name="TextBox 7" id="7"/>
          <p:cNvSpPr txBox="true"/>
          <p:nvPr/>
        </p:nvSpPr>
        <p:spPr>
          <a:xfrm rot="0">
            <a:off x="5991339" y="1035548"/>
            <a:ext cx="4699324"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What We Did ?</a:t>
            </a:r>
          </a:p>
        </p:txBody>
      </p:sp>
      <p:sp>
        <p:nvSpPr>
          <p:cNvPr name="Freeform 8" id="8"/>
          <p:cNvSpPr/>
          <p:nvPr/>
        </p:nvSpPr>
        <p:spPr>
          <a:xfrm flipH="false" flipV="false" rot="0">
            <a:off x="7672898" y="2791357"/>
            <a:ext cx="1336205" cy="1336205"/>
          </a:xfrm>
          <a:custGeom>
            <a:avLst/>
            <a:gdLst/>
            <a:ahLst/>
            <a:cxnLst/>
            <a:rect r="r" b="b" t="t" l="l"/>
            <a:pathLst>
              <a:path h="1336205" w="1336205">
                <a:moveTo>
                  <a:pt x="0" y="0"/>
                </a:moveTo>
                <a:lnTo>
                  <a:pt x="1336205" y="0"/>
                </a:lnTo>
                <a:lnTo>
                  <a:pt x="1336205" y="1336205"/>
                </a:lnTo>
                <a:lnTo>
                  <a:pt x="0" y="1336205"/>
                </a:lnTo>
                <a:lnTo>
                  <a:pt x="0" y="0"/>
                </a:lnTo>
                <a:close/>
              </a:path>
            </a:pathLst>
          </a:custGeom>
          <a:blipFill>
            <a:blip r:embed="rId11">
              <a:alphaModFix amt="48000"/>
              <a:extLst>
                <a:ext uri="{96DAC541-7B7A-43D3-8B79-37D633B846F1}">
                  <asvg:svgBlip xmlns:asvg="http://schemas.microsoft.com/office/drawing/2016/SVG/main" r:embed="rId12"/>
                </a:ext>
              </a:extLst>
            </a:blip>
            <a:stretch>
              <a:fillRect l="0" t="0" r="0" b="0"/>
            </a:stretch>
          </a:blipFill>
        </p:spPr>
      </p:sp>
      <p:grpSp>
        <p:nvGrpSpPr>
          <p:cNvPr name="Group 9" id="9"/>
          <p:cNvGrpSpPr/>
          <p:nvPr/>
        </p:nvGrpSpPr>
        <p:grpSpPr>
          <a:xfrm rot="0">
            <a:off x="7843153" y="2961612"/>
            <a:ext cx="995694" cy="99569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12" id="12"/>
          <p:cNvSpPr txBox="true"/>
          <p:nvPr/>
        </p:nvSpPr>
        <p:spPr>
          <a:xfrm rot="0">
            <a:off x="9450791" y="3120556"/>
            <a:ext cx="7628108" cy="491968"/>
          </a:xfrm>
          <a:prstGeom prst="rect">
            <a:avLst/>
          </a:prstGeom>
        </p:spPr>
        <p:txBody>
          <a:bodyPr anchor="t" rtlCol="false" tIns="0" lIns="0" bIns="0" rIns="0">
            <a:spAutoFit/>
          </a:bodyPr>
          <a:lstStyle/>
          <a:p>
            <a:pPr algn="l">
              <a:lnSpc>
                <a:spcPts val="3977"/>
              </a:lnSpc>
            </a:pPr>
            <a:r>
              <a:rPr lang="en-US" b="true" sz="3197">
                <a:solidFill>
                  <a:srgbClr val="2D2261"/>
                </a:solidFill>
                <a:latin typeface="Red Hat Display Bold"/>
                <a:ea typeface="Red Hat Display Bold"/>
                <a:cs typeface="Red Hat Display Bold"/>
                <a:sym typeface="Red Hat Display Bold"/>
              </a:rPr>
              <a:t>Converted n</a:t>
            </a:r>
            <a:r>
              <a:rPr lang="en-US" b="true" sz="3197">
                <a:solidFill>
                  <a:srgbClr val="2D2261"/>
                </a:solidFill>
                <a:latin typeface="Red Hat Display Bold"/>
                <a:ea typeface="Red Hat Display Bold"/>
                <a:cs typeface="Red Hat Display Bold"/>
                <a:sym typeface="Red Hat Display Bold"/>
              </a:rPr>
              <a:t>umeric fields to Number</a:t>
            </a:r>
          </a:p>
        </p:txBody>
      </p:sp>
      <p:sp>
        <p:nvSpPr>
          <p:cNvPr name="TextBox 13" id="13"/>
          <p:cNvSpPr txBox="true"/>
          <p:nvPr/>
        </p:nvSpPr>
        <p:spPr>
          <a:xfrm rot="0">
            <a:off x="9450791" y="4601199"/>
            <a:ext cx="7324068" cy="496706"/>
          </a:xfrm>
          <a:prstGeom prst="rect">
            <a:avLst/>
          </a:prstGeom>
        </p:spPr>
        <p:txBody>
          <a:bodyPr anchor="t" rtlCol="false" tIns="0" lIns="0" bIns="0" rIns="0">
            <a:spAutoFit/>
          </a:bodyPr>
          <a:lstStyle/>
          <a:p>
            <a:pPr algn="l" marL="0" indent="0" lvl="0">
              <a:lnSpc>
                <a:spcPts val="3977"/>
              </a:lnSpc>
              <a:spcBef>
                <a:spcPct val="0"/>
              </a:spcBef>
            </a:pPr>
            <a:r>
              <a:rPr lang="en-US" b="true" sz="3197">
                <a:solidFill>
                  <a:srgbClr val="2D2261"/>
                </a:solidFill>
                <a:latin typeface="Red Hat Display Bold"/>
                <a:ea typeface="Red Hat Display Bold"/>
                <a:cs typeface="Red Hat Display Bold"/>
                <a:sym typeface="Red Hat Display Bold"/>
              </a:rPr>
              <a:t>C</a:t>
            </a:r>
            <a:r>
              <a:rPr lang="en-US" b="true" sz="3197" strike="noStrike" u="none">
                <a:solidFill>
                  <a:srgbClr val="2D2261"/>
                </a:solidFill>
                <a:latin typeface="Red Hat Display Bold"/>
                <a:ea typeface="Red Hat Display Bold"/>
                <a:cs typeface="Red Hat Display Bold"/>
                <a:sym typeface="Red Hat Display Bold"/>
              </a:rPr>
              <a:t>o</a:t>
            </a:r>
            <a:r>
              <a:rPr lang="en-US" b="true" sz="3197" strike="noStrike" u="none">
                <a:solidFill>
                  <a:srgbClr val="2D2261"/>
                </a:solidFill>
                <a:latin typeface="Red Hat Display Bold"/>
                <a:ea typeface="Red Hat Display Bold"/>
                <a:cs typeface="Red Hat Display Bold"/>
                <a:sym typeface="Red Hat Display Bold"/>
              </a:rPr>
              <a:t>nve</a:t>
            </a:r>
            <a:r>
              <a:rPr lang="en-US" b="true" sz="3197" strike="noStrike" u="none">
                <a:solidFill>
                  <a:srgbClr val="2D2261"/>
                </a:solidFill>
                <a:latin typeface="Red Hat Display Bold"/>
                <a:ea typeface="Red Hat Display Bold"/>
                <a:cs typeface="Red Hat Display Bold"/>
                <a:sym typeface="Red Hat Display Bold"/>
              </a:rPr>
              <a:t>r</a:t>
            </a:r>
            <a:r>
              <a:rPr lang="en-US" b="true" sz="3197" strike="noStrike" u="none">
                <a:solidFill>
                  <a:srgbClr val="2D2261"/>
                </a:solidFill>
                <a:latin typeface="Red Hat Display Bold"/>
                <a:ea typeface="Red Hat Display Bold"/>
                <a:cs typeface="Red Hat Display Bold"/>
                <a:sym typeface="Red Hat Display Bold"/>
              </a:rPr>
              <a:t>t</a:t>
            </a:r>
            <a:r>
              <a:rPr lang="en-US" b="true" sz="3197" strike="noStrike" u="none">
                <a:solidFill>
                  <a:srgbClr val="2D2261"/>
                </a:solidFill>
                <a:latin typeface="Red Hat Display Bold"/>
                <a:ea typeface="Red Hat Display Bold"/>
                <a:cs typeface="Red Hat Display Bold"/>
                <a:sym typeface="Red Hat Display Bold"/>
              </a:rPr>
              <a:t>e</a:t>
            </a:r>
            <a:r>
              <a:rPr lang="en-US" b="true" sz="3197" strike="noStrike" u="none">
                <a:solidFill>
                  <a:srgbClr val="2D2261"/>
                </a:solidFill>
                <a:latin typeface="Red Hat Display Bold"/>
                <a:ea typeface="Red Hat Display Bold"/>
                <a:cs typeface="Red Hat Display Bold"/>
                <a:sym typeface="Red Hat Display Bold"/>
              </a:rPr>
              <a:t>d</a:t>
            </a:r>
            <a:r>
              <a:rPr lang="en-US" b="true" sz="3197" strike="noStrike" u="none">
                <a:solidFill>
                  <a:srgbClr val="2D2261"/>
                </a:solidFill>
                <a:latin typeface="Red Hat Display Bold"/>
                <a:ea typeface="Red Hat Display Bold"/>
                <a:cs typeface="Red Hat Display Bold"/>
                <a:sym typeface="Red Hat Display Bold"/>
              </a:rPr>
              <a:t> </a:t>
            </a:r>
            <a:r>
              <a:rPr lang="en-US" b="true" sz="3197" strike="noStrike" u="none">
                <a:solidFill>
                  <a:srgbClr val="2D2261"/>
                </a:solidFill>
                <a:latin typeface="Red Hat Display Bold"/>
                <a:ea typeface="Red Hat Display Bold"/>
                <a:cs typeface="Red Hat Display Bold"/>
                <a:sym typeface="Red Hat Display Bold"/>
              </a:rPr>
              <a:t>da</a:t>
            </a:r>
            <a:r>
              <a:rPr lang="en-US" b="true" sz="3197" strike="noStrike" u="none">
                <a:solidFill>
                  <a:srgbClr val="2D2261"/>
                </a:solidFill>
                <a:latin typeface="Red Hat Display Bold"/>
                <a:ea typeface="Red Hat Display Bold"/>
                <a:cs typeface="Red Hat Display Bold"/>
                <a:sym typeface="Red Hat Display Bold"/>
              </a:rPr>
              <a:t>t</a:t>
            </a:r>
            <a:r>
              <a:rPr lang="en-US" b="true" sz="3197" strike="noStrike" u="none">
                <a:solidFill>
                  <a:srgbClr val="2D2261"/>
                </a:solidFill>
                <a:latin typeface="Red Hat Display Bold"/>
                <a:ea typeface="Red Hat Display Bold"/>
                <a:cs typeface="Red Hat Display Bold"/>
                <a:sym typeface="Red Hat Display Bold"/>
              </a:rPr>
              <a:t>e </a:t>
            </a:r>
            <a:r>
              <a:rPr lang="en-US" b="true" sz="3197" strike="noStrike" u="none">
                <a:solidFill>
                  <a:srgbClr val="2D2261"/>
                </a:solidFill>
                <a:latin typeface="Red Hat Display Bold"/>
                <a:ea typeface="Red Hat Display Bold"/>
                <a:cs typeface="Red Hat Display Bold"/>
                <a:sym typeface="Red Hat Display Bold"/>
              </a:rPr>
              <a:t>f</a:t>
            </a:r>
            <a:r>
              <a:rPr lang="en-US" b="true" sz="3197" strike="noStrike" u="none">
                <a:solidFill>
                  <a:srgbClr val="2D2261"/>
                </a:solidFill>
                <a:latin typeface="Red Hat Display Bold"/>
                <a:ea typeface="Red Hat Display Bold"/>
                <a:cs typeface="Red Hat Display Bold"/>
                <a:sym typeface="Red Hat Display Bold"/>
              </a:rPr>
              <a:t>ields to</a:t>
            </a:r>
            <a:r>
              <a:rPr lang="en-US" b="true" sz="3197" strike="noStrike" u="none">
                <a:solidFill>
                  <a:srgbClr val="2D2261"/>
                </a:solidFill>
                <a:latin typeface="Red Hat Display Bold"/>
                <a:ea typeface="Red Hat Display Bold"/>
                <a:cs typeface="Red Hat Display Bold"/>
                <a:sym typeface="Red Hat Display Bold"/>
              </a:rPr>
              <a:t> </a:t>
            </a:r>
            <a:r>
              <a:rPr lang="en-US" b="true" sz="3197" strike="noStrike" u="none">
                <a:solidFill>
                  <a:srgbClr val="2D2261"/>
                </a:solidFill>
                <a:latin typeface="Red Hat Display Bold"/>
                <a:ea typeface="Red Hat Display Bold"/>
                <a:cs typeface="Red Hat Display Bold"/>
                <a:sym typeface="Red Hat Display Bold"/>
              </a:rPr>
              <a:t>D</a:t>
            </a:r>
            <a:r>
              <a:rPr lang="en-US" b="true" sz="3197" strike="noStrike" u="none">
                <a:solidFill>
                  <a:srgbClr val="2D2261"/>
                </a:solidFill>
                <a:latin typeface="Red Hat Display Bold"/>
                <a:ea typeface="Red Hat Display Bold"/>
                <a:cs typeface="Red Hat Display Bold"/>
                <a:sym typeface="Red Hat Display Bold"/>
              </a:rPr>
              <a:t>a</a:t>
            </a:r>
            <a:r>
              <a:rPr lang="en-US" b="true" sz="3197" strike="noStrike" u="none">
                <a:solidFill>
                  <a:srgbClr val="2D2261"/>
                </a:solidFill>
                <a:latin typeface="Red Hat Display Bold"/>
                <a:ea typeface="Red Hat Display Bold"/>
                <a:cs typeface="Red Hat Display Bold"/>
                <a:sym typeface="Red Hat Display Bold"/>
              </a:rPr>
              <a:t>te type</a:t>
            </a:r>
          </a:p>
        </p:txBody>
      </p:sp>
      <p:sp>
        <p:nvSpPr>
          <p:cNvPr name="TextBox 14" id="14"/>
          <p:cNvSpPr txBox="true"/>
          <p:nvPr/>
        </p:nvSpPr>
        <p:spPr>
          <a:xfrm rot="0">
            <a:off x="9450791" y="5777444"/>
            <a:ext cx="7628108" cy="1001754"/>
          </a:xfrm>
          <a:prstGeom prst="rect">
            <a:avLst/>
          </a:prstGeom>
        </p:spPr>
        <p:txBody>
          <a:bodyPr anchor="t" rtlCol="false" tIns="0" lIns="0" bIns="0" rIns="0">
            <a:spAutoFit/>
          </a:bodyPr>
          <a:lstStyle/>
          <a:p>
            <a:pPr algn="l" marL="0" indent="0" lvl="0">
              <a:lnSpc>
                <a:spcPts val="3977"/>
              </a:lnSpc>
              <a:spcBef>
                <a:spcPct val="0"/>
              </a:spcBef>
            </a:pPr>
            <a:r>
              <a:rPr lang="en-US" b="true" sz="3197">
                <a:solidFill>
                  <a:srgbClr val="2D2261"/>
                </a:solidFill>
                <a:latin typeface="Red Hat Display Bold"/>
                <a:ea typeface="Red Hat Display Bold"/>
                <a:cs typeface="Red Hat Display Bold"/>
                <a:sym typeface="Red Hat Display Bold"/>
              </a:rPr>
              <a:t>E</a:t>
            </a:r>
            <a:r>
              <a:rPr lang="en-US" b="true" sz="3197" strike="noStrike" u="none">
                <a:solidFill>
                  <a:srgbClr val="2D2261"/>
                </a:solidFill>
                <a:latin typeface="Red Hat Display Bold"/>
                <a:ea typeface="Red Hat Display Bold"/>
                <a:cs typeface="Red Hat Display Bold"/>
                <a:sym typeface="Red Hat Display Bold"/>
              </a:rPr>
              <a:t>n</a:t>
            </a:r>
            <a:r>
              <a:rPr lang="en-US" b="true" sz="3197" strike="noStrike" u="none">
                <a:solidFill>
                  <a:srgbClr val="2D2261"/>
                </a:solidFill>
                <a:latin typeface="Red Hat Display Bold"/>
                <a:ea typeface="Red Hat Display Bold"/>
                <a:cs typeface="Red Hat Display Bold"/>
                <a:sym typeface="Red Hat Display Bold"/>
              </a:rPr>
              <a:t>sur</a:t>
            </a:r>
            <a:r>
              <a:rPr lang="en-US" b="true" sz="3197" strike="noStrike" u="none">
                <a:solidFill>
                  <a:srgbClr val="2D2261"/>
                </a:solidFill>
                <a:latin typeface="Red Hat Display Bold"/>
                <a:ea typeface="Red Hat Display Bold"/>
                <a:cs typeface="Red Hat Display Bold"/>
                <a:sym typeface="Red Hat Display Bold"/>
              </a:rPr>
              <a:t>ed</a:t>
            </a:r>
            <a:r>
              <a:rPr lang="en-US" b="true" sz="3197" strike="noStrike" u="none">
                <a:solidFill>
                  <a:srgbClr val="2D2261"/>
                </a:solidFill>
                <a:latin typeface="Red Hat Display Bold"/>
                <a:ea typeface="Red Hat Display Bold"/>
                <a:cs typeface="Red Hat Display Bold"/>
                <a:sym typeface="Red Hat Display Bold"/>
              </a:rPr>
              <a:t> eac</a:t>
            </a:r>
            <a:r>
              <a:rPr lang="en-US" b="true" sz="3197" strike="noStrike" u="none">
                <a:solidFill>
                  <a:srgbClr val="2D2261"/>
                </a:solidFill>
                <a:latin typeface="Red Hat Display Bold"/>
                <a:ea typeface="Red Hat Display Bold"/>
                <a:cs typeface="Red Hat Display Bold"/>
                <a:sym typeface="Red Hat Display Bold"/>
              </a:rPr>
              <a:t>h</a:t>
            </a:r>
            <a:r>
              <a:rPr lang="en-US" b="true" sz="3197" strike="noStrike" u="none">
                <a:solidFill>
                  <a:srgbClr val="2D2261"/>
                </a:solidFill>
                <a:latin typeface="Red Hat Display Bold"/>
                <a:ea typeface="Red Hat Display Bold"/>
                <a:cs typeface="Red Hat Display Bold"/>
                <a:sym typeface="Red Hat Display Bold"/>
              </a:rPr>
              <a:t> column m</a:t>
            </a:r>
            <a:r>
              <a:rPr lang="en-US" b="true" sz="3197" strike="noStrike" u="none">
                <a:solidFill>
                  <a:srgbClr val="2D2261"/>
                </a:solidFill>
                <a:latin typeface="Red Hat Display Bold"/>
                <a:ea typeface="Red Hat Display Bold"/>
                <a:cs typeface="Red Hat Display Bold"/>
                <a:sym typeface="Red Hat Display Bold"/>
              </a:rPr>
              <a:t>at</a:t>
            </a:r>
            <a:r>
              <a:rPr lang="en-US" b="true" sz="3197" strike="noStrike" u="none">
                <a:solidFill>
                  <a:srgbClr val="2D2261"/>
                </a:solidFill>
                <a:latin typeface="Red Hat Display Bold"/>
                <a:ea typeface="Red Hat Display Bold"/>
                <a:cs typeface="Red Hat Display Bold"/>
                <a:sym typeface="Red Hat Display Bold"/>
              </a:rPr>
              <a:t>ches</a:t>
            </a:r>
            <a:r>
              <a:rPr lang="en-US" b="true" sz="3197" strike="noStrike" u="none">
                <a:solidFill>
                  <a:srgbClr val="2D2261"/>
                </a:solidFill>
                <a:latin typeface="Red Hat Display Bold"/>
                <a:ea typeface="Red Hat Display Bold"/>
                <a:cs typeface="Red Hat Display Bold"/>
                <a:sym typeface="Red Hat Display Bold"/>
              </a:rPr>
              <a:t> </a:t>
            </a:r>
            <a:r>
              <a:rPr lang="en-US" b="true" sz="3197" strike="noStrike" u="none">
                <a:solidFill>
                  <a:srgbClr val="2D2261"/>
                </a:solidFill>
                <a:latin typeface="Red Hat Display Bold"/>
                <a:ea typeface="Red Hat Display Bold"/>
                <a:cs typeface="Red Hat Display Bold"/>
                <a:sym typeface="Red Hat Display Bold"/>
              </a:rPr>
              <a:t>the c</a:t>
            </a:r>
            <a:r>
              <a:rPr lang="en-US" b="true" sz="3197" strike="noStrike" u="none">
                <a:solidFill>
                  <a:srgbClr val="2D2261"/>
                </a:solidFill>
                <a:latin typeface="Red Hat Display Bold"/>
                <a:ea typeface="Red Hat Display Bold"/>
                <a:cs typeface="Red Hat Display Bold"/>
                <a:sym typeface="Red Hat Display Bold"/>
              </a:rPr>
              <a:t>o</a:t>
            </a:r>
            <a:r>
              <a:rPr lang="en-US" b="true" sz="3197" strike="noStrike" u="none">
                <a:solidFill>
                  <a:srgbClr val="2D2261"/>
                </a:solidFill>
                <a:latin typeface="Red Hat Display Bold"/>
                <a:ea typeface="Red Hat Display Bold"/>
                <a:cs typeface="Red Hat Display Bold"/>
                <a:sym typeface="Red Hat Display Bold"/>
              </a:rPr>
              <a:t>rrec</a:t>
            </a:r>
            <a:r>
              <a:rPr lang="en-US" b="true" sz="3197" strike="noStrike" u="none">
                <a:solidFill>
                  <a:srgbClr val="2D2261"/>
                </a:solidFill>
                <a:latin typeface="Red Hat Display Bold"/>
                <a:ea typeface="Red Hat Display Bold"/>
                <a:cs typeface="Red Hat Display Bold"/>
                <a:sym typeface="Red Hat Display Bold"/>
              </a:rPr>
              <a:t>t</a:t>
            </a:r>
            <a:r>
              <a:rPr lang="en-US" b="true" sz="3197" strike="noStrike" u="none">
                <a:solidFill>
                  <a:srgbClr val="2D2261"/>
                </a:solidFill>
                <a:latin typeface="Red Hat Display Bold"/>
                <a:ea typeface="Red Hat Display Bold"/>
                <a:cs typeface="Red Hat Display Bold"/>
                <a:sym typeface="Red Hat Display Bold"/>
              </a:rPr>
              <a:t> d</a:t>
            </a:r>
            <a:r>
              <a:rPr lang="en-US" b="true" sz="3197" strike="noStrike" u="none">
                <a:solidFill>
                  <a:srgbClr val="2D2261"/>
                </a:solidFill>
                <a:latin typeface="Red Hat Display Bold"/>
                <a:ea typeface="Red Hat Display Bold"/>
                <a:cs typeface="Red Hat Display Bold"/>
                <a:sym typeface="Red Hat Display Bold"/>
              </a:rPr>
              <a:t>a</a:t>
            </a:r>
            <a:r>
              <a:rPr lang="en-US" b="true" sz="3197" strike="noStrike" u="none">
                <a:solidFill>
                  <a:srgbClr val="2D2261"/>
                </a:solidFill>
                <a:latin typeface="Red Hat Display Bold"/>
                <a:ea typeface="Red Hat Display Bold"/>
                <a:cs typeface="Red Hat Display Bold"/>
                <a:sym typeface="Red Hat Display Bold"/>
              </a:rPr>
              <a:t>t</a:t>
            </a:r>
            <a:r>
              <a:rPr lang="en-US" b="true" sz="3197" strike="noStrike" u="none">
                <a:solidFill>
                  <a:srgbClr val="2D2261"/>
                </a:solidFill>
                <a:latin typeface="Red Hat Display Bold"/>
                <a:ea typeface="Red Hat Display Bold"/>
                <a:cs typeface="Red Hat Display Bold"/>
                <a:sym typeface="Red Hat Display Bold"/>
              </a:rPr>
              <a:t>a</a:t>
            </a:r>
            <a:r>
              <a:rPr lang="en-US" b="true" sz="3197" strike="noStrike" u="none">
                <a:solidFill>
                  <a:srgbClr val="2D2261"/>
                </a:solidFill>
                <a:latin typeface="Red Hat Display Bold"/>
                <a:ea typeface="Red Hat Display Bold"/>
                <a:cs typeface="Red Hat Display Bold"/>
                <a:sym typeface="Red Hat Display Bold"/>
              </a:rPr>
              <a:t> type</a:t>
            </a:r>
          </a:p>
        </p:txBody>
      </p:sp>
      <p:sp>
        <p:nvSpPr>
          <p:cNvPr name="TextBox 15" id="15"/>
          <p:cNvSpPr txBox="true"/>
          <p:nvPr/>
        </p:nvSpPr>
        <p:spPr>
          <a:xfrm rot="0">
            <a:off x="7876846" y="3214457"/>
            <a:ext cx="928309" cy="480479"/>
          </a:xfrm>
          <a:prstGeom prst="rect">
            <a:avLst/>
          </a:prstGeom>
        </p:spPr>
        <p:txBody>
          <a:bodyPr anchor="t" rtlCol="false" tIns="0" lIns="0" bIns="0" rIns="0">
            <a:spAutoFit/>
          </a:bodyPr>
          <a:lstStyle/>
          <a:p>
            <a:pPr algn="ctr">
              <a:lnSpc>
                <a:spcPts val="3850"/>
              </a:lnSpc>
            </a:pPr>
            <a:r>
              <a:rPr lang="en-US" b="true" sz="3094">
                <a:solidFill>
                  <a:srgbClr val="2D2261"/>
                </a:solidFill>
                <a:latin typeface="Red Hat Display Bold"/>
                <a:ea typeface="Red Hat Display Bold"/>
                <a:cs typeface="Red Hat Display Bold"/>
                <a:sym typeface="Red Hat Display Bold"/>
              </a:rPr>
              <a:t>1</a:t>
            </a:r>
          </a:p>
        </p:txBody>
      </p:sp>
      <p:sp>
        <p:nvSpPr>
          <p:cNvPr name="TextBox 16" id="16"/>
          <p:cNvSpPr txBox="true"/>
          <p:nvPr/>
        </p:nvSpPr>
        <p:spPr>
          <a:xfrm rot="0">
            <a:off x="9450791" y="7189849"/>
            <a:ext cx="7324068" cy="1001754"/>
          </a:xfrm>
          <a:prstGeom prst="rect">
            <a:avLst/>
          </a:prstGeom>
        </p:spPr>
        <p:txBody>
          <a:bodyPr anchor="t" rtlCol="false" tIns="0" lIns="0" bIns="0" rIns="0">
            <a:spAutoFit/>
          </a:bodyPr>
          <a:lstStyle/>
          <a:p>
            <a:pPr algn="l" marL="0" indent="0" lvl="0">
              <a:lnSpc>
                <a:spcPts val="3977"/>
              </a:lnSpc>
              <a:spcBef>
                <a:spcPct val="0"/>
              </a:spcBef>
            </a:pPr>
            <a:r>
              <a:rPr lang="en-US" b="true" sz="3197">
                <a:solidFill>
                  <a:srgbClr val="2D2261"/>
                </a:solidFill>
                <a:latin typeface="Red Hat Display Bold"/>
                <a:ea typeface="Red Hat Display Bold"/>
                <a:cs typeface="Red Hat Display Bold"/>
                <a:sym typeface="Red Hat Display Bold"/>
              </a:rPr>
              <a:t>Applied consistent capitalization rules to names</a:t>
            </a:r>
          </a:p>
        </p:txBody>
      </p:sp>
      <p:sp>
        <p:nvSpPr>
          <p:cNvPr name="Freeform 17" id="17"/>
          <p:cNvSpPr/>
          <p:nvPr/>
        </p:nvSpPr>
        <p:spPr>
          <a:xfrm flipH="false" flipV="false" rot="0">
            <a:off x="7672898" y="4200843"/>
            <a:ext cx="1336205" cy="1336205"/>
          </a:xfrm>
          <a:custGeom>
            <a:avLst/>
            <a:gdLst/>
            <a:ahLst/>
            <a:cxnLst/>
            <a:rect r="r" b="b" t="t" l="l"/>
            <a:pathLst>
              <a:path h="1336205" w="1336205">
                <a:moveTo>
                  <a:pt x="0" y="0"/>
                </a:moveTo>
                <a:lnTo>
                  <a:pt x="1336205" y="0"/>
                </a:lnTo>
                <a:lnTo>
                  <a:pt x="1336205" y="1336205"/>
                </a:lnTo>
                <a:lnTo>
                  <a:pt x="0" y="1336205"/>
                </a:lnTo>
                <a:lnTo>
                  <a:pt x="0" y="0"/>
                </a:lnTo>
                <a:close/>
              </a:path>
            </a:pathLst>
          </a:custGeom>
          <a:blipFill>
            <a:blip r:embed="rId11">
              <a:alphaModFix amt="48000"/>
              <a:extLst>
                <a:ext uri="{96DAC541-7B7A-43D3-8B79-37D633B846F1}">
                  <asvg:svgBlip xmlns:asvg="http://schemas.microsoft.com/office/drawing/2016/SVG/main" r:embed="rId12"/>
                </a:ext>
              </a:extLst>
            </a:blip>
            <a:stretch>
              <a:fillRect l="0" t="0" r="0" b="0"/>
            </a:stretch>
          </a:blipFill>
        </p:spPr>
      </p:sp>
      <p:grpSp>
        <p:nvGrpSpPr>
          <p:cNvPr name="Group 18" id="18"/>
          <p:cNvGrpSpPr/>
          <p:nvPr/>
        </p:nvGrpSpPr>
        <p:grpSpPr>
          <a:xfrm rot="0">
            <a:off x="7843153" y="4371099"/>
            <a:ext cx="995694" cy="99569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21" id="21"/>
          <p:cNvSpPr txBox="true"/>
          <p:nvPr/>
        </p:nvSpPr>
        <p:spPr>
          <a:xfrm rot="0">
            <a:off x="7876846" y="4623944"/>
            <a:ext cx="928309" cy="480479"/>
          </a:xfrm>
          <a:prstGeom prst="rect">
            <a:avLst/>
          </a:prstGeom>
        </p:spPr>
        <p:txBody>
          <a:bodyPr anchor="t" rtlCol="false" tIns="0" lIns="0" bIns="0" rIns="0">
            <a:spAutoFit/>
          </a:bodyPr>
          <a:lstStyle/>
          <a:p>
            <a:pPr algn="ctr">
              <a:lnSpc>
                <a:spcPts val="3850"/>
              </a:lnSpc>
            </a:pPr>
            <a:r>
              <a:rPr lang="en-US" b="true" sz="3094">
                <a:solidFill>
                  <a:srgbClr val="2D2261"/>
                </a:solidFill>
                <a:latin typeface="Red Hat Display Bold"/>
                <a:ea typeface="Red Hat Display Bold"/>
                <a:cs typeface="Red Hat Display Bold"/>
                <a:sym typeface="Red Hat Display Bold"/>
              </a:rPr>
              <a:t>2</a:t>
            </a:r>
          </a:p>
        </p:txBody>
      </p:sp>
      <p:sp>
        <p:nvSpPr>
          <p:cNvPr name="Freeform 22" id="22"/>
          <p:cNvSpPr/>
          <p:nvPr/>
        </p:nvSpPr>
        <p:spPr>
          <a:xfrm flipH="false" flipV="false" rot="0">
            <a:off x="7672898" y="5613248"/>
            <a:ext cx="1336205" cy="1336205"/>
          </a:xfrm>
          <a:custGeom>
            <a:avLst/>
            <a:gdLst/>
            <a:ahLst/>
            <a:cxnLst/>
            <a:rect r="r" b="b" t="t" l="l"/>
            <a:pathLst>
              <a:path h="1336205" w="1336205">
                <a:moveTo>
                  <a:pt x="0" y="0"/>
                </a:moveTo>
                <a:lnTo>
                  <a:pt x="1336205" y="0"/>
                </a:lnTo>
                <a:lnTo>
                  <a:pt x="1336205" y="1336205"/>
                </a:lnTo>
                <a:lnTo>
                  <a:pt x="0" y="1336205"/>
                </a:lnTo>
                <a:lnTo>
                  <a:pt x="0" y="0"/>
                </a:lnTo>
                <a:close/>
              </a:path>
            </a:pathLst>
          </a:custGeom>
          <a:blipFill>
            <a:blip r:embed="rId11">
              <a:alphaModFix amt="48000"/>
              <a:extLst>
                <a:ext uri="{96DAC541-7B7A-43D3-8B79-37D633B846F1}">
                  <asvg:svgBlip xmlns:asvg="http://schemas.microsoft.com/office/drawing/2016/SVG/main" r:embed="rId12"/>
                </a:ext>
              </a:extLst>
            </a:blip>
            <a:stretch>
              <a:fillRect l="0" t="0" r="0" b="0"/>
            </a:stretch>
          </a:blipFill>
        </p:spPr>
      </p:sp>
      <p:grpSp>
        <p:nvGrpSpPr>
          <p:cNvPr name="Group 23" id="23"/>
          <p:cNvGrpSpPr/>
          <p:nvPr/>
        </p:nvGrpSpPr>
        <p:grpSpPr>
          <a:xfrm rot="0">
            <a:off x="7843153" y="5783504"/>
            <a:ext cx="995694" cy="99569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5" id="25"/>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26" id="26"/>
          <p:cNvSpPr txBox="true"/>
          <p:nvPr/>
        </p:nvSpPr>
        <p:spPr>
          <a:xfrm rot="0">
            <a:off x="7876846" y="6036349"/>
            <a:ext cx="928309" cy="480479"/>
          </a:xfrm>
          <a:prstGeom prst="rect">
            <a:avLst/>
          </a:prstGeom>
        </p:spPr>
        <p:txBody>
          <a:bodyPr anchor="t" rtlCol="false" tIns="0" lIns="0" bIns="0" rIns="0">
            <a:spAutoFit/>
          </a:bodyPr>
          <a:lstStyle/>
          <a:p>
            <a:pPr algn="ctr">
              <a:lnSpc>
                <a:spcPts val="3850"/>
              </a:lnSpc>
            </a:pPr>
            <a:r>
              <a:rPr lang="en-US" b="true" sz="3094">
                <a:solidFill>
                  <a:srgbClr val="2D2261"/>
                </a:solidFill>
                <a:latin typeface="Red Hat Display Bold"/>
                <a:ea typeface="Red Hat Display Bold"/>
                <a:cs typeface="Red Hat Display Bold"/>
                <a:sym typeface="Red Hat Display Bold"/>
              </a:rPr>
              <a:t>3</a:t>
            </a:r>
          </a:p>
        </p:txBody>
      </p:sp>
      <p:sp>
        <p:nvSpPr>
          <p:cNvPr name="Freeform 27" id="27"/>
          <p:cNvSpPr/>
          <p:nvPr/>
        </p:nvSpPr>
        <p:spPr>
          <a:xfrm flipH="false" flipV="false" rot="0">
            <a:off x="7672898" y="7025653"/>
            <a:ext cx="1336205" cy="1336205"/>
          </a:xfrm>
          <a:custGeom>
            <a:avLst/>
            <a:gdLst/>
            <a:ahLst/>
            <a:cxnLst/>
            <a:rect r="r" b="b" t="t" l="l"/>
            <a:pathLst>
              <a:path h="1336205" w="1336205">
                <a:moveTo>
                  <a:pt x="0" y="0"/>
                </a:moveTo>
                <a:lnTo>
                  <a:pt x="1336205" y="0"/>
                </a:lnTo>
                <a:lnTo>
                  <a:pt x="1336205" y="1336205"/>
                </a:lnTo>
                <a:lnTo>
                  <a:pt x="0" y="1336205"/>
                </a:lnTo>
                <a:lnTo>
                  <a:pt x="0" y="0"/>
                </a:lnTo>
                <a:close/>
              </a:path>
            </a:pathLst>
          </a:custGeom>
          <a:blipFill>
            <a:blip r:embed="rId11">
              <a:alphaModFix amt="48000"/>
              <a:extLst>
                <a:ext uri="{96DAC541-7B7A-43D3-8B79-37D633B846F1}">
                  <asvg:svgBlip xmlns:asvg="http://schemas.microsoft.com/office/drawing/2016/SVG/main" r:embed="rId12"/>
                </a:ext>
              </a:extLst>
            </a:blip>
            <a:stretch>
              <a:fillRect l="0" t="0" r="0" b="0"/>
            </a:stretch>
          </a:blipFill>
        </p:spPr>
      </p:sp>
      <p:grpSp>
        <p:nvGrpSpPr>
          <p:cNvPr name="Group 28" id="28"/>
          <p:cNvGrpSpPr/>
          <p:nvPr/>
        </p:nvGrpSpPr>
        <p:grpSpPr>
          <a:xfrm rot="0">
            <a:off x="7843153" y="7195909"/>
            <a:ext cx="995694" cy="995694"/>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0" id="3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31" id="31"/>
          <p:cNvSpPr txBox="true"/>
          <p:nvPr/>
        </p:nvSpPr>
        <p:spPr>
          <a:xfrm rot="0">
            <a:off x="7876846" y="7448754"/>
            <a:ext cx="928309" cy="480479"/>
          </a:xfrm>
          <a:prstGeom prst="rect">
            <a:avLst/>
          </a:prstGeom>
        </p:spPr>
        <p:txBody>
          <a:bodyPr anchor="t" rtlCol="false" tIns="0" lIns="0" bIns="0" rIns="0">
            <a:spAutoFit/>
          </a:bodyPr>
          <a:lstStyle/>
          <a:p>
            <a:pPr algn="ctr">
              <a:lnSpc>
                <a:spcPts val="3850"/>
              </a:lnSpc>
            </a:pPr>
            <a:r>
              <a:rPr lang="en-US" b="true" sz="3094">
                <a:solidFill>
                  <a:srgbClr val="2D2261"/>
                </a:solidFill>
                <a:latin typeface="Red Hat Display Bold"/>
                <a:ea typeface="Red Hat Display Bold"/>
                <a:cs typeface="Red Hat Display Bold"/>
                <a:sym typeface="Red Hat Display Bold"/>
              </a:rPr>
              <a:t>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577289" y="2875454"/>
            <a:ext cx="6480123" cy="5782609"/>
          </a:xfrm>
          <a:custGeom>
            <a:avLst/>
            <a:gdLst/>
            <a:ahLst/>
            <a:cxnLst/>
            <a:rect r="r" b="b" t="t" l="l"/>
            <a:pathLst>
              <a:path h="5782609" w="6480123">
                <a:moveTo>
                  <a:pt x="0" y="0"/>
                </a:moveTo>
                <a:lnTo>
                  <a:pt x="6480122" y="0"/>
                </a:lnTo>
                <a:lnTo>
                  <a:pt x="6480122" y="5782609"/>
                </a:lnTo>
                <a:lnTo>
                  <a:pt x="0" y="5782609"/>
                </a:lnTo>
                <a:lnTo>
                  <a:pt x="0" y="0"/>
                </a:lnTo>
                <a:close/>
              </a:path>
            </a:pathLst>
          </a:custGeom>
          <a:blipFill>
            <a:blip r:embed="rId10"/>
            <a:stretch>
              <a:fillRect l="0" t="0" r="0" b="0"/>
            </a:stretch>
          </a:blipFill>
        </p:spPr>
      </p:sp>
      <p:sp>
        <p:nvSpPr>
          <p:cNvPr name="TextBox 7" id="7"/>
          <p:cNvSpPr txBox="true"/>
          <p:nvPr/>
        </p:nvSpPr>
        <p:spPr>
          <a:xfrm rot="0">
            <a:off x="640183" y="3232870"/>
            <a:ext cx="10242345" cy="4531152"/>
          </a:xfrm>
          <a:prstGeom prst="rect">
            <a:avLst/>
          </a:prstGeom>
        </p:spPr>
        <p:txBody>
          <a:bodyPr anchor="t" rtlCol="false" tIns="0" lIns="0" bIns="0" rIns="0">
            <a:spAutoFit/>
          </a:bodyPr>
          <a:lstStyle/>
          <a:p>
            <a:pPr algn="ctr">
              <a:lnSpc>
                <a:spcPts val="3605"/>
              </a:lnSpc>
              <a:spcBef>
                <a:spcPct val="0"/>
              </a:spcBef>
            </a:pPr>
            <a:r>
              <a:rPr lang="en-US" sz="2575">
                <a:solidFill>
                  <a:srgbClr val="000000"/>
                </a:solidFill>
                <a:latin typeface="Roboto Slab"/>
                <a:ea typeface="Roboto Slab"/>
                <a:cs typeface="Roboto Slab"/>
                <a:sym typeface="Roboto Slab"/>
              </a:rPr>
              <a:t>•</a:t>
            </a:r>
            <a:r>
              <a:rPr lang="en-US" sz="2575">
                <a:solidFill>
                  <a:srgbClr val="000000"/>
                </a:solidFill>
                <a:latin typeface="Roboto Slab"/>
                <a:ea typeface="Roboto Slab"/>
                <a:cs typeface="Roboto Slab"/>
                <a:sym typeface="Roboto Slab"/>
              </a:rPr>
              <a:t> Customer churn rates across all product categories are very similar (around 20%).</a:t>
            </a:r>
          </a:p>
          <a:p>
            <a:pPr algn="ctr">
              <a:lnSpc>
                <a:spcPts val="3605"/>
              </a:lnSpc>
              <a:spcBef>
                <a:spcPct val="0"/>
              </a:spcBef>
            </a:pPr>
            <a:r>
              <a:rPr lang="en-US" sz="2575">
                <a:solidFill>
                  <a:srgbClr val="000000"/>
                </a:solidFill>
                <a:latin typeface="Roboto Slab"/>
                <a:ea typeface="Roboto Slab"/>
                <a:cs typeface="Roboto Slab"/>
                <a:sym typeface="Roboto Slab"/>
              </a:rPr>
              <a:t> • Product category does not strongly affect whether customers churn.</a:t>
            </a:r>
          </a:p>
          <a:p>
            <a:pPr algn="ctr">
              <a:lnSpc>
                <a:spcPts val="3605"/>
              </a:lnSpc>
              <a:spcBef>
                <a:spcPct val="0"/>
              </a:spcBef>
            </a:pPr>
            <a:r>
              <a:rPr lang="en-US" sz="2575">
                <a:solidFill>
                  <a:srgbClr val="000000"/>
                </a:solidFill>
                <a:latin typeface="Roboto Slab"/>
                <a:ea typeface="Roboto Slab"/>
                <a:cs typeface="Roboto Slab"/>
                <a:sym typeface="Roboto Slab"/>
              </a:rPr>
              <a:t> • Books category has the highest churn rate (about 20.2%).</a:t>
            </a:r>
          </a:p>
          <a:p>
            <a:pPr algn="ctr">
              <a:lnSpc>
                <a:spcPts val="3605"/>
              </a:lnSpc>
              <a:spcBef>
                <a:spcPct val="0"/>
              </a:spcBef>
            </a:pPr>
            <a:r>
              <a:rPr lang="en-US" sz="2575">
                <a:solidFill>
                  <a:srgbClr val="000000"/>
                </a:solidFill>
                <a:latin typeface="Roboto Slab"/>
                <a:ea typeface="Roboto Slab"/>
                <a:cs typeface="Roboto Slab"/>
                <a:sym typeface="Roboto Slab"/>
              </a:rPr>
              <a:t> • Clothing and Electronics follow closely (around 20.1%).</a:t>
            </a:r>
          </a:p>
          <a:p>
            <a:pPr algn="ctr">
              <a:lnSpc>
                <a:spcPts val="3605"/>
              </a:lnSpc>
              <a:spcBef>
                <a:spcPct val="0"/>
              </a:spcBef>
            </a:pPr>
            <a:r>
              <a:rPr lang="en-US" sz="2575">
                <a:solidFill>
                  <a:srgbClr val="000000"/>
                </a:solidFill>
                <a:latin typeface="Roboto Slab"/>
                <a:ea typeface="Roboto Slab"/>
                <a:cs typeface="Roboto Slab"/>
                <a:sym typeface="Roboto Slab"/>
              </a:rPr>
              <a:t> • Home products have the lowest churn (just under 20%).</a:t>
            </a:r>
          </a:p>
          <a:p>
            <a:pPr algn="ctr">
              <a:lnSpc>
                <a:spcPts val="3605"/>
              </a:lnSpc>
              <a:spcBef>
                <a:spcPct val="0"/>
              </a:spcBef>
            </a:pPr>
            <a:r>
              <a:rPr lang="en-US" sz="2575">
                <a:solidFill>
                  <a:srgbClr val="000000"/>
                </a:solidFill>
                <a:latin typeface="Roboto Slab"/>
                <a:ea typeface="Roboto Slab"/>
                <a:cs typeface="Roboto Slab"/>
                <a:sym typeface="Roboto Slab"/>
              </a:rPr>
              <a:t> • Key takeaway: Minimal differences suggest churn is likely driven by factors like service quality, pricing, or customer experience—not the product type.</a:t>
            </a:r>
          </a:p>
        </p:txBody>
      </p:sp>
      <p:sp>
        <p:nvSpPr>
          <p:cNvPr name="TextBox 8" id="8"/>
          <p:cNvSpPr txBox="true"/>
          <p:nvPr/>
        </p:nvSpPr>
        <p:spPr>
          <a:xfrm rot="0">
            <a:off x="-913667" y="949536"/>
            <a:ext cx="20115334" cy="881131"/>
          </a:xfrm>
          <a:prstGeom prst="rect">
            <a:avLst/>
          </a:prstGeom>
        </p:spPr>
        <p:txBody>
          <a:bodyPr anchor="t" rtlCol="false" tIns="0" lIns="0" bIns="0" rIns="0">
            <a:spAutoFit/>
          </a:bodyPr>
          <a:lstStyle/>
          <a:p>
            <a:pPr algn="ctr">
              <a:lnSpc>
                <a:spcPts val="7235"/>
              </a:lnSpc>
              <a:spcBef>
                <a:spcPct val="0"/>
              </a:spcBef>
            </a:pPr>
            <a:r>
              <a:rPr lang="en-US" b="true" sz="5168">
                <a:solidFill>
                  <a:srgbClr val="004AAD"/>
                </a:solidFill>
                <a:latin typeface="Roboto Slab Bold"/>
                <a:ea typeface="Roboto Slab Bold"/>
                <a:cs typeface="Roboto Slab Bold"/>
                <a:sym typeface="Roboto Slab Bold"/>
              </a:rPr>
              <a:t>VISUALISATIONS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531040" y="2582898"/>
            <a:ext cx="6440168" cy="5791679"/>
          </a:xfrm>
          <a:custGeom>
            <a:avLst/>
            <a:gdLst/>
            <a:ahLst/>
            <a:cxnLst/>
            <a:rect r="r" b="b" t="t" l="l"/>
            <a:pathLst>
              <a:path h="5791679" w="6440168">
                <a:moveTo>
                  <a:pt x="0" y="0"/>
                </a:moveTo>
                <a:lnTo>
                  <a:pt x="6440168" y="0"/>
                </a:lnTo>
                <a:lnTo>
                  <a:pt x="6440168" y="5791679"/>
                </a:lnTo>
                <a:lnTo>
                  <a:pt x="0" y="5791679"/>
                </a:lnTo>
                <a:lnTo>
                  <a:pt x="0" y="0"/>
                </a:lnTo>
                <a:close/>
              </a:path>
            </a:pathLst>
          </a:custGeom>
          <a:blipFill>
            <a:blip r:embed="rId10"/>
            <a:stretch>
              <a:fillRect l="0" t="0" r="0" b="0"/>
            </a:stretch>
          </a:blipFill>
        </p:spPr>
      </p:sp>
      <p:sp>
        <p:nvSpPr>
          <p:cNvPr name="TextBox 7" id="7"/>
          <p:cNvSpPr txBox="true"/>
          <p:nvPr/>
        </p:nvSpPr>
        <p:spPr>
          <a:xfrm rot="0">
            <a:off x="332866" y="3367594"/>
            <a:ext cx="11198174" cy="3504186"/>
          </a:xfrm>
          <a:prstGeom prst="rect">
            <a:avLst/>
          </a:prstGeom>
        </p:spPr>
        <p:txBody>
          <a:bodyPr anchor="t" rtlCol="false" tIns="0" lIns="0" bIns="0" rIns="0">
            <a:spAutoFit/>
          </a:bodyPr>
          <a:lstStyle/>
          <a:p>
            <a:pPr algn="ctr">
              <a:lnSpc>
                <a:spcPts val="3502"/>
              </a:lnSpc>
              <a:spcBef>
                <a:spcPct val="0"/>
              </a:spcBef>
            </a:pPr>
            <a:r>
              <a:rPr lang="en-US" sz="2501">
                <a:solidFill>
                  <a:srgbClr val="000000"/>
                </a:solidFill>
                <a:latin typeface="Roboto Slab"/>
                <a:ea typeface="Roboto Slab"/>
                <a:cs typeface="Roboto Slab"/>
                <a:sym typeface="Roboto Slab"/>
              </a:rPr>
              <a:t>•</a:t>
            </a:r>
            <a:r>
              <a:rPr lang="en-US" sz="2501">
                <a:solidFill>
                  <a:srgbClr val="000000"/>
                </a:solidFill>
                <a:latin typeface="Roboto Slab"/>
                <a:ea typeface="Roboto Slab"/>
                <a:cs typeface="Roboto Slab"/>
                <a:sym typeface="Roboto Slab"/>
              </a:rPr>
              <a:t> Churn rates differ slightly across payment methods.</a:t>
            </a:r>
          </a:p>
          <a:p>
            <a:pPr algn="ctr">
              <a:lnSpc>
                <a:spcPts val="3502"/>
              </a:lnSpc>
              <a:spcBef>
                <a:spcPct val="0"/>
              </a:spcBef>
            </a:pPr>
            <a:r>
              <a:rPr lang="en-US" sz="2501">
                <a:solidFill>
                  <a:srgbClr val="000000"/>
                </a:solidFill>
                <a:latin typeface="Roboto Slab"/>
                <a:ea typeface="Roboto Slab"/>
                <a:cs typeface="Roboto Slab"/>
                <a:sym typeface="Roboto Slab"/>
              </a:rPr>
              <a:t> • Credit Card users have the lowest churn (about 19.7%), suggesting higher loyalty or repeat purchase behavior.</a:t>
            </a:r>
          </a:p>
          <a:p>
            <a:pPr algn="ctr">
              <a:lnSpc>
                <a:spcPts val="3502"/>
              </a:lnSpc>
              <a:spcBef>
                <a:spcPct val="0"/>
              </a:spcBef>
            </a:pPr>
            <a:r>
              <a:rPr lang="en-US" sz="2501">
                <a:solidFill>
                  <a:srgbClr val="000000"/>
                </a:solidFill>
                <a:latin typeface="Roboto Slab"/>
                <a:ea typeface="Roboto Slab"/>
                <a:cs typeface="Roboto Slab"/>
                <a:sym typeface="Roboto Slab"/>
              </a:rPr>
              <a:t> • Cash and PayPal users have higher churn rates (slightly above 20.2%).</a:t>
            </a:r>
          </a:p>
          <a:p>
            <a:pPr algn="ctr">
              <a:lnSpc>
                <a:spcPts val="3502"/>
              </a:lnSpc>
              <a:spcBef>
                <a:spcPct val="0"/>
              </a:spcBef>
            </a:pPr>
            <a:r>
              <a:rPr lang="en-US" sz="2501">
                <a:solidFill>
                  <a:srgbClr val="000000"/>
                </a:solidFill>
                <a:latin typeface="Roboto Slab"/>
                <a:ea typeface="Roboto Slab"/>
                <a:cs typeface="Roboto Slab"/>
                <a:sym typeface="Roboto Slab"/>
              </a:rPr>
              <a:t> • Higher churn among Cash and PayPal users may indicate lower long-term engagement.</a:t>
            </a:r>
          </a:p>
          <a:p>
            <a:pPr algn="ctr">
              <a:lnSpc>
                <a:spcPts val="3502"/>
              </a:lnSpc>
              <a:spcBef>
                <a:spcPct val="0"/>
              </a:spcBef>
            </a:pPr>
            <a:r>
              <a:rPr lang="en-US" sz="2501">
                <a:solidFill>
                  <a:srgbClr val="000000"/>
                </a:solidFill>
                <a:latin typeface="Roboto Slab"/>
                <a:ea typeface="Roboto Slab"/>
                <a:cs typeface="Roboto Slab"/>
                <a:sym typeface="Roboto Slab"/>
              </a:rPr>
              <a:t> • Key takeaway: Credit card payments are linked to better customer retention, while Cash and PayPal users churn at slightly higher rates.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0458219" y="2491797"/>
            <a:ext cx="7614498" cy="5680658"/>
          </a:xfrm>
          <a:custGeom>
            <a:avLst/>
            <a:gdLst/>
            <a:ahLst/>
            <a:cxnLst/>
            <a:rect r="r" b="b" t="t" l="l"/>
            <a:pathLst>
              <a:path h="5680658" w="7614498">
                <a:moveTo>
                  <a:pt x="0" y="0"/>
                </a:moveTo>
                <a:lnTo>
                  <a:pt x="7614498" y="0"/>
                </a:lnTo>
                <a:lnTo>
                  <a:pt x="7614498" y="5680657"/>
                </a:lnTo>
                <a:lnTo>
                  <a:pt x="0" y="5680657"/>
                </a:lnTo>
                <a:lnTo>
                  <a:pt x="0" y="0"/>
                </a:lnTo>
                <a:close/>
              </a:path>
            </a:pathLst>
          </a:custGeom>
          <a:blipFill>
            <a:blip r:embed="rId10"/>
            <a:stretch>
              <a:fillRect l="0" t="0" r="0" b="0"/>
            </a:stretch>
          </a:blipFill>
        </p:spPr>
      </p:sp>
      <p:sp>
        <p:nvSpPr>
          <p:cNvPr name="TextBox 7" id="7"/>
          <p:cNvSpPr txBox="true"/>
          <p:nvPr/>
        </p:nvSpPr>
        <p:spPr>
          <a:xfrm rot="0">
            <a:off x="295051" y="3933851"/>
            <a:ext cx="10163168" cy="2381198"/>
          </a:xfrm>
          <a:prstGeom prst="rect">
            <a:avLst/>
          </a:prstGeom>
        </p:spPr>
        <p:txBody>
          <a:bodyPr anchor="t" rtlCol="false" tIns="0" lIns="0" bIns="0" rIns="0">
            <a:spAutoFit/>
          </a:bodyPr>
          <a:lstStyle/>
          <a:p>
            <a:pPr algn="ctr">
              <a:lnSpc>
                <a:spcPts val="3152"/>
              </a:lnSpc>
              <a:spcBef>
                <a:spcPct val="0"/>
              </a:spcBef>
            </a:pPr>
            <a:r>
              <a:rPr lang="en-US" sz="2252">
                <a:solidFill>
                  <a:srgbClr val="000000"/>
                </a:solidFill>
                <a:latin typeface="Roboto Slab"/>
                <a:ea typeface="Roboto Slab"/>
                <a:cs typeface="Roboto Slab"/>
                <a:sym typeface="Roboto Slab"/>
              </a:rPr>
              <a:t>•</a:t>
            </a:r>
            <a:r>
              <a:rPr lang="en-US" sz="2252">
                <a:solidFill>
                  <a:srgbClr val="000000"/>
                </a:solidFill>
                <a:latin typeface="Roboto Slab"/>
                <a:ea typeface="Roboto Slab"/>
                <a:cs typeface="Roboto Slab"/>
                <a:sym typeface="Roboto Slab"/>
              </a:rPr>
              <a:t> Churn rates for male and female customers are very similar.</a:t>
            </a:r>
          </a:p>
          <a:p>
            <a:pPr algn="ctr">
              <a:lnSpc>
                <a:spcPts val="3152"/>
              </a:lnSpc>
              <a:spcBef>
                <a:spcPct val="0"/>
              </a:spcBef>
            </a:pPr>
            <a:r>
              <a:rPr lang="en-US" sz="2252">
                <a:solidFill>
                  <a:srgbClr val="000000"/>
                </a:solidFill>
                <a:latin typeface="Roboto Slab"/>
                <a:ea typeface="Roboto Slab"/>
                <a:cs typeface="Roboto Slab"/>
                <a:sym typeface="Roboto Slab"/>
              </a:rPr>
              <a:t> • Female customers have a slightly higher churn rate (around 20.22%).</a:t>
            </a:r>
          </a:p>
          <a:p>
            <a:pPr algn="ctr">
              <a:lnSpc>
                <a:spcPts val="3152"/>
              </a:lnSpc>
              <a:spcBef>
                <a:spcPct val="0"/>
              </a:spcBef>
            </a:pPr>
            <a:r>
              <a:rPr lang="en-US" sz="2252">
                <a:solidFill>
                  <a:srgbClr val="000000"/>
                </a:solidFill>
                <a:latin typeface="Roboto Slab"/>
                <a:ea typeface="Roboto Slab"/>
                <a:cs typeface="Roboto Slab"/>
                <a:sym typeface="Roboto Slab"/>
              </a:rPr>
              <a:t> • Male customers have a slightly lower churn rate (around 20.00%).</a:t>
            </a:r>
          </a:p>
          <a:p>
            <a:pPr algn="ctr">
              <a:lnSpc>
                <a:spcPts val="3152"/>
              </a:lnSpc>
              <a:spcBef>
                <a:spcPct val="0"/>
              </a:spcBef>
            </a:pPr>
            <a:r>
              <a:rPr lang="en-US" sz="2252">
                <a:solidFill>
                  <a:srgbClr val="000000"/>
                </a:solidFill>
                <a:latin typeface="Roboto Slab"/>
                <a:ea typeface="Roboto Slab"/>
                <a:cs typeface="Roboto Slab"/>
                <a:sym typeface="Roboto Slab"/>
              </a:rPr>
              <a:t> </a:t>
            </a:r>
            <a:r>
              <a:rPr lang="en-US" sz="2252">
                <a:solidFill>
                  <a:srgbClr val="000000"/>
                </a:solidFill>
                <a:latin typeface="Roboto Slab"/>
                <a:ea typeface="Roboto Slab"/>
                <a:cs typeface="Roboto Slab"/>
                <a:sym typeface="Roboto Slab"/>
              </a:rPr>
              <a:t>• G</a:t>
            </a:r>
            <a:r>
              <a:rPr lang="en-US" sz="2252">
                <a:solidFill>
                  <a:srgbClr val="000000"/>
                </a:solidFill>
                <a:latin typeface="Roboto Slab"/>
                <a:ea typeface="Roboto Slab"/>
                <a:cs typeface="Roboto Slab"/>
                <a:sym typeface="Roboto Slab"/>
              </a:rPr>
              <a:t>e</a:t>
            </a:r>
            <a:r>
              <a:rPr lang="en-US" sz="2252">
                <a:solidFill>
                  <a:srgbClr val="000000"/>
                </a:solidFill>
                <a:latin typeface="Roboto Slab"/>
                <a:ea typeface="Roboto Slab"/>
                <a:cs typeface="Roboto Slab"/>
                <a:sym typeface="Roboto Slab"/>
              </a:rPr>
              <a:t>n</a:t>
            </a:r>
            <a:r>
              <a:rPr lang="en-US" sz="2252">
                <a:solidFill>
                  <a:srgbClr val="000000"/>
                </a:solidFill>
                <a:latin typeface="Roboto Slab"/>
                <a:ea typeface="Roboto Slab"/>
                <a:cs typeface="Roboto Slab"/>
                <a:sym typeface="Roboto Slab"/>
              </a:rPr>
              <a:t>der does not significantly influence churn.</a:t>
            </a:r>
          </a:p>
          <a:p>
            <a:pPr algn="ctr">
              <a:lnSpc>
                <a:spcPts val="3152"/>
              </a:lnSpc>
              <a:spcBef>
                <a:spcPct val="0"/>
              </a:spcBef>
            </a:pPr>
            <a:r>
              <a:rPr lang="en-US" sz="2252">
                <a:solidFill>
                  <a:srgbClr val="000000"/>
                </a:solidFill>
                <a:latin typeface="Roboto Slab"/>
                <a:ea typeface="Roboto Slab"/>
                <a:cs typeface="Roboto Slab"/>
                <a:sym typeface="Roboto Slab"/>
              </a:rPr>
              <a:t> • Key takeaway: Churn is likely driven by other factors—like experience, satisfaction, or pricing—rather than gender.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112355" y="2638244"/>
            <a:ext cx="6968483" cy="5805223"/>
          </a:xfrm>
          <a:custGeom>
            <a:avLst/>
            <a:gdLst/>
            <a:ahLst/>
            <a:cxnLst/>
            <a:rect r="r" b="b" t="t" l="l"/>
            <a:pathLst>
              <a:path h="5805223" w="6968483">
                <a:moveTo>
                  <a:pt x="0" y="0"/>
                </a:moveTo>
                <a:lnTo>
                  <a:pt x="6968484" y="0"/>
                </a:lnTo>
                <a:lnTo>
                  <a:pt x="6968484" y="5805223"/>
                </a:lnTo>
                <a:lnTo>
                  <a:pt x="0" y="5805223"/>
                </a:lnTo>
                <a:lnTo>
                  <a:pt x="0" y="0"/>
                </a:lnTo>
                <a:close/>
              </a:path>
            </a:pathLst>
          </a:custGeom>
          <a:blipFill>
            <a:blip r:embed="rId10"/>
            <a:stretch>
              <a:fillRect l="0" t="0" r="0" b="0"/>
            </a:stretch>
          </a:blipFill>
        </p:spPr>
      </p:sp>
      <p:sp>
        <p:nvSpPr>
          <p:cNvPr name="TextBox 7" id="7"/>
          <p:cNvSpPr txBox="true"/>
          <p:nvPr/>
        </p:nvSpPr>
        <p:spPr>
          <a:xfrm rot="0">
            <a:off x="218140" y="1476636"/>
            <a:ext cx="10894215" cy="3118720"/>
          </a:xfrm>
          <a:prstGeom prst="rect">
            <a:avLst/>
          </a:prstGeom>
        </p:spPr>
        <p:txBody>
          <a:bodyPr anchor="t" rtlCol="false" tIns="0" lIns="0" bIns="0" rIns="0">
            <a:spAutoFit/>
          </a:bodyPr>
          <a:lstStyle/>
          <a:p>
            <a:pPr algn="ctr">
              <a:lnSpc>
                <a:spcPts val="3121"/>
              </a:lnSpc>
              <a:spcBef>
                <a:spcPct val="0"/>
              </a:spcBef>
            </a:pPr>
            <a:r>
              <a:rPr lang="en-US" sz="2229">
                <a:solidFill>
                  <a:srgbClr val="000000"/>
                </a:solidFill>
                <a:latin typeface="Roboto Slab"/>
                <a:ea typeface="Roboto Slab"/>
                <a:cs typeface="Roboto Slab"/>
                <a:sym typeface="Roboto Slab"/>
              </a:rPr>
              <a:t>•</a:t>
            </a:r>
            <a:r>
              <a:rPr lang="en-US" sz="2229">
                <a:solidFill>
                  <a:srgbClr val="000000"/>
                </a:solidFill>
                <a:latin typeface="Roboto Slab"/>
                <a:ea typeface="Roboto Slab"/>
                <a:cs typeface="Roboto Slab"/>
                <a:sym typeface="Roboto Slab"/>
              </a:rPr>
              <a:t> The correlations between the variables are generally small, indicating no strong direct relationships.</a:t>
            </a:r>
          </a:p>
          <a:p>
            <a:pPr algn="ctr">
              <a:lnSpc>
                <a:spcPts val="3121"/>
              </a:lnSpc>
              <a:spcBef>
                <a:spcPct val="0"/>
              </a:spcBef>
            </a:pPr>
            <a:r>
              <a:rPr lang="en-US" sz="2229">
                <a:solidFill>
                  <a:srgbClr val="000000"/>
                </a:solidFill>
                <a:latin typeface="Roboto Slab"/>
                <a:ea typeface="Roboto Slab"/>
                <a:cs typeface="Roboto Slab"/>
                <a:sym typeface="Roboto Slab"/>
              </a:rPr>
              <a:t> • Total Purchase Amount &amp; Discount: Moderate negative correlation (–0.37) — customers spend slightly less when discounts increase.</a:t>
            </a:r>
          </a:p>
          <a:p>
            <a:pPr algn="ctr">
              <a:lnSpc>
                <a:spcPts val="3121"/>
              </a:lnSpc>
              <a:spcBef>
                <a:spcPct val="0"/>
              </a:spcBef>
            </a:pPr>
            <a:r>
              <a:rPr lang="en-US" sz="2229">
                <a:solidFill>
                  <a:srgbClr val="000000"/>
                </a:solidFill>
                <a:latin typeface="Roboto Slab"/>
                <a:ea typeface="Roboto Slab"/>
                <a:cs typeface="Roboto Slab"/>
                <a:sym typeface="Roboto Slab"/>
              </a:rPr>
              <a:t> • Total Purchase Amount &amp; Customer Age: Moderate negative correlation (–0.36) — older customers tend to spend a little less.</a:t>
            </a:r>
          </a:p>
          <a:p>
            <a:pPr algn="ctr">
              <a:lnSpc>
                <a:spcPts val="3121"/>
              </a:lnSpc>
              <a:spcBef>
                <a:spcPct val="0"/>
              </a:spcBef>
            </a:pPr>
            <a:r>
              <a:rPr lang="en-US" sz="2229">
                <a:solidFill>
                  <a:srgbClr val="000000"/>
                </a:solidFill>
                <a:latin typeface="Roboto Slab"/>
                <a:ea typeface="Roboto Slab"/>
                <a:cs typeface="Roboto Slab"/>
                <a:sym typeface="Roboto Slab"/>
              </a:rPr>
              <a:t> • Discount &amp; Customer Age: Moderate positive correlation (+0.52) — older customers are more likely to receive higher discounts.</a:t>
            </a:r>
          </a:p>
        </p:txBody>
      </p:sp>
      <p:sp>
        <p:nvSpPr>
          <p:cNvPr name="TextBox 8" id="8"/>
          <p:cNvSpPr txBox="true"/>
          <p:nvPr/>
        </p:nvSpPr>
        <p:spPr>
          <a:xfrm rot="0">
            <a:off x="372667" y="4708737"/>
            <a:ext cx="10143149" cy="3842673"/>
          </a:xfrm>
          <a:prstGeom prst="rect">
            <a:avLst/>
          </a:prstGeom>
        </p:spPr>
        <p:txBody>
          <a:bodyPr anchor="t" rtlCol="false" tIns="0" lIns="0" bIns="0" rIns="0">
            <a:spAutoFit/>
          </a:bodyPr>
          <a:lstStyle/>
          <a:p>
            <a:pPr algn="ctr">
              <a:lnSpc>
                <a:spcPts val="3449"/>
              </a:lnSpc>
              <a:spcBef>
                <a:spcPct val="0"/>
              </a:spcBef>
            </a:pPr>
            <a:r>
              <a:rPr lang="en-US" sz="2463">
                <a:solidFill>
                  <a:srgbClr val="000000"/>
                </a:solidFill>
                <a:latin typeface="Roboto Slab"/>
                <a:ea typeface="Roboto Slab"/>
                <a:cs typeface="Roboto Slab"/>
                <a:sym typeface="Roboto Slab"/>
              </a:rPr>
              <a:t>moderate—not strong.</a:t>
            </a:r>
          </a:p>
          <a:p>
            <a:pPr algn="ctr">
              <a:lnSpc>
                <a:spcPts val="3449"/>
              </a:lnSpc>
              <a:spcBef>
                <a:spcPct val="0"/>
              </a:spcBef>
            </a:pPr>
            <a:r>
              <a:rPr lang="en-US" sz="2463">
                <a:solidFill>
                  <a:srgbClr val="000000"/>
                </a:solidFill>
                <a:latin typeface="Roboto Slab"/>
                <a:ea typeface="Roboto Slab"/>
                <a:cs typeface="Roboto Slab"/>
                <a:sym typeface="Roboto Slab"/>
              </a:rPr>
              <a:t> • Purchase amount, age, and discount levels are related, but none can reliably predict the others.</a:t>
            </a:r>
          </a:p>
          <a:p>
            <a:pPr algn="ctr">
              <a:lnSpc>
                <a:spcPts val="3449"/>
              </a:lnSpc>
              <a:spcBef>
                <a:spcPct val="0"/>
              </a:spcBef>
            </a:pPr>
            <a:r>
              <a:rPr lang="en-US" sz="2463">
                <a:solidFill>
                  <a:srgbClr val="000000"/>
                </a:solidFill>
                <a:latin typeface="Roboto Slab"/>
                <a:ea typeface="Roboto Slab"/>
                <a:cs typeface="Roboto Slab"/>
                <a:sym typeface="Roboto Slab"/>
              </a:rPr>
              <a:t> • Customer behavior is influenced by multiple factors, not just age or discount level.</a:t>
            </a:r>
          </a:p>
          <a:p>
            <a:pPr algn="ctr">
              <a:lnSpc>
                <a:spcPts val="3449"/>
              </a:lnSpc>
              <a:spcBef>
                <a:spcPct val="0"/>
              </a:spcBef>
            </a:pPr>
            <a:r>
              <a:rPr lang="en-US" sz="2463">
                <a:solidFill>
                  <a:srgbClr val="000000"/>
                </a:solidFill>
                <a:latin typeface="Roboto Slab"/>
                <a:ea typeface="Roboto Slab"/>
                <a:cs typeface="Roboto Slab"/>
                <a:sym typeface="Roboto Slab"/>
              </a:rPr>
              <a:t> • Insights can help with targeted promotions and customer segmentation.</a:t>
            </a:r>
          </a:p>
          <a:p>
            <a:pPr algn="ctr">
              <a:lnSpc>
                <a:spcPts val="3449"/>
              </a:lnSpc>
              <a:spcBef>
                <a:spcPct val="0"/>
              </a:spcBef>
            </a:pPr>
            <a:r>
              <a:rPr lang="en-US" sz="2463">
                <a:solidFill>
                  <a:srgbClr val="000000"/>
                </a:solidFill>
                <a:latin typeface="Roboto Slab"/>
                <a:ea typeface="Roboto Slab"/>
                <a:cs typeface="Roboto Slab"/>
                <a:sym typeface="Roboto Slab"/>
              </a:rPr>
              <a:t> • Deeper analysis may be needed to fully understand what drives spending and discount patterns.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6248311" y="5604911"/>
            <a:ext cx="1381570" cy="1381570"/>
          </a:xfrm>
          <a:custGeom>
            <a:avLst/>
            <a:gdLst/>
            <a:ahLst/>
            <a:cxnLst/>
            <a:rect r="r" b="b" t="t" l="l"/>
            <a:pathLst>
              <a:path h="1381570" w="1381570">
                <a:moveTo>
                  <a:pt x="0" y="0"/>
                </a:moveTo>
                <a:lnTo>
                  <a:pt x="1381570" y="0"/>
                </a:lnTo>
                <a:lnTo>
                  <a:pt x="1381570" y="1381571"/>
                </a:lnTo>
                <a:lnTo>
                  <a:pt x="0" y="1381571"/>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366932" y="4148281"/>
            <a:ext cx="1029499" cy="102949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6424346" y="5780947"/>
            <a:ext cx="1029499" cy="102949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9" id="9"/>
          <p:cNvSpPr/>
          <p:nvPr/>
        </p:nvSpPr>
        <p:spPr>
          <a:xfrm flipH="false" flipV="false" rot="0">
            <a:off x="61296" y="3779067"/>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7629881" y="4458268"/>
            <a:ext cx="9694809" cy="450889"/>
          </a:xfrm>
          <a:prstGeom prst="rect">
            <a:avLst/>
          </a:prstGeom>
        </p:spPr>
        <p:txBody>
          <a:bodyPr anchor="t" rtlCol="false" tIns="0" lIns="0" bIns="0" rIns="0">
            <a:spAutoFit/>
          </a:bodyPr>
          <a:lstStyle/>
          <a:p>
            <a:pPr algn="l">
              <a:lnSpc>
                <a:spcPts val="3525"/>
              </a:lnSpc>
            </a:pPr>
            <a:r>
              <a:rPr lang="en-US" sz="2833">
                <a:solidFill>
                  <a:srgbClr val="2D2261"/>
                </a:solidFill>
                <a:latin typeface="Red Hat Display"/>
                <a:ea typeface="Red Hat Display"/>
                <a:cs typeface="Red Hat Display"/>
                <a:sym typeface="Red Hat Display"/>
              </a:rPr>
              <a:t>It provides a single source of truth for analysis and reporting.</a:t>
            </a:r>
          </a:p>
        </p:txBody>
      </p:sp>
      <p:sp>
        <p:nvSpPr>
          <p:cNvPr name="TextBox 11" id="11"/>
          <p:cNvSpPr txBox="true"/>
          <p:nvPr/>
        </p:nvSpPr>
        <p:spPr>
          <a:xfrm rot="0">
            <a:off x="6459183" y="6042700"/>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2</a:t>
            </a:r>
          </a:p>
        </p:txBody>
      </p:sp>
      <p:grpSp>
        <p:nvGrpSpPr>
          <p:cNvPr name="Group 12" id="12"/>
          <p:cNvGrpSpPr/>
          <p:nvPr/>
        </p:nvGrpSpPr>
        <p:grpSpPr>
          <a:xfrm rot="0">
            <a:off x="6248311" y="7062682"/>
            <a:ext cx="1381570" cy="1381570"/>
            <a:chOff x="0" y="0"/>
            <a:chExt cx="1842094" cy="1842094"/>
          </a:xfrm>
        </p:grpSpPr>
        <p:sp>
          <p:nvSpPr>
            <p:cNvPr name="Freeform 13" id="13"/>
            <p:cNvSpPr/>
            <p:nvPr/>
          </p:nvSpPr>
          <p:spPr>
            <a:xfrm flipH="false" flipV="false" rot="0">
              <a:off x="0" y="0"/>
              <a:ext cx="1842094" cy="1842094"/>
            </a:xfrm>
            <a:custGeom>
              <a:avLst/>
              <a:gdLst/>
              <a:ahLst/>
              <a:cxnLst/>
              <a:rect r="r" b="b" t="t" l="l"/>
              <a:pathLst>
                <a:path h="1842094" w="1842094">
                  <a:moveTo>
                    <a:pt x="0" y="0"/>
                  </a:moveTo>
                  <a:lnTo>
                    <a:pt x="1842094" y="0"/>
                  </a:lnTo>
                  <a:lnTo>
                    <a:pt x="1842094" y="1842094"/>
                  </a:lnTo>
                  <a:lnTo>
                    <a:pt x="0" y="18420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234714" y="234714"/>
              <a:ext cx="1372665" cy="137266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17" id="17"/>
            <p:cNvSpPr txBox="true"/>
            <p:nvPr/>
          </p:nvSpPr>
          <p:spPr>
            <a:xfrm rot="0">
              <a:off x="281163" y="586893"/>
              <a:ext cx="1279767" cy="658783"/>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3</a:t>
              </a:r>
            </a:p>
          </p:txBody>
        </p:sp>
      </p:grpSp>
      <p:sp>
        <p:nvSpPr>
          <p:cNvPr name="TextBox 18" id="18"/>
          <p:cNvSpPr txBox="true"/>
          <p:nvPr/>
        </p:nvSpPr>
        <p:spPr>
          <a:xfrm rot="0">
            <a:off x="4673848" y="1301469"/>
            <a:ext cx="12573730" cy="1948848"/>
          </a:xfrm>
          <a:prstGeom prst="rect">
            <a:avLst/>
          </a:prstGeom>
        </p:spPr>
        <p:txBody>
          <a:bodyPr anchor="t" rtlCol="false" tIns="0" lIns="0" bIns="0" rIns="0">
            <a:spAutoFit/>
          </a:bodyPr>
          <a:lstStyle/>
          <a:p>
            <a:pPr algn="l">
              <a:lnSpc>
                <a:spcPts val="3883"/>
              </a:lnSpc>
            </a:pPr>
            <a:r>
              <a:rPr lang="en-US" sz="2773">
                <a:solidFill>
                  <a:srgbClr val="000000"/>
                </a:solidFill>
                <a:latin typeface="Times New Roman"/>
                <a:ea typeface="Times New Roman"/>
                <a:cs typeface="Times New Roman"/>
                <a:sym typeface="Times New Roman"/>
              </a:rPr>
              <a:t>In Our Project, We used a Data Warehouse A data warehouse is a centralized system that collects and organizes information from different sources. In our case, it optimizes for structured and relational data such as customer, product, purchase, and purchase details data into one analytical environment.</a:t>
            </a:r>
          </a:p>
        </p:txBody>
      </p:sp>
      <p:sp>
        <p:nvSpPr>
          <p:cNvPr name="TextBox 19" id="19"/>
          <p:cNvSpPr txBox="true"/>
          <p:nvPr/>
        </p:nvSpPr>
        <p:spPr>
          <a:xfrm rot="0">
            <a:off x="4673848" y="314249"/>
            <a:ext cx="6559765" cy="930070"/>
          </a:xfrm>
          <a:prstGeom prst="rect">
            <a:avLst/>
          </a:prstGeom>
        </p:spPr>
        <p:txBody>
          <a:bodyPr anchor="t" rtlCol="false" tIns="0" lIns="0" bIns="0" rIns="0">
            <a:spAutoFit/>
          </a:bodyPr>
          <a:lstStyle/>
          <a:p>
            <a:pPr algn="l">
              <a:lnSpc>
                <a:spcPts val="7113"/>
              </a:lnSpc>
            </a:pPr>
            <a:r>
              <a:rPr lang="en-US" b="true" sz="5718">
                <a:solidFill>
                  <a:srgbClr val="517EBF"/>
                </a:solidFill>
                <a:latin typeface="Times New Roman Bold"/>
                <a:ea typeface="Times New Roman Bold"/>
                <a:cs typeface="Times New Roman Bold"/>
                <a:sym typeface="Times New Roman Bold"/>
              </a:rPr>
              <a:t>Data warehouse</a:t>
            </a:r>
          </a:p>
        </p:txBody>
      </p:sp>
      <p:sp>
        <p:nvSpPr>
          <p:cNvPr name="Freeform 20" id="20"/>
          <p:cNvSpPr/>
          <p:nvPr/>
        </p:nvSpPr>
        <p:spPr>
          <a:xfrm flipH="false" flipV="false" rot="0">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226878">
            <a:off x="-376359"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4" id="24"/>
          <p:cNvSpPr txBox="true"/>
          <p:nvPr/>
        </p:nvSpPr>
        <p:spPr>
          <a:xfrm rot="0">
            <a:off x="5714270" y="3610338"/>
            <a:ext cx="12573730" cy="432029"/>
          </a:xfrm>
          <a:prstGeom prst="rect">
            <a:avLst/>
          </a:prstGeom>
        </p:spPr>
        <p:txBody>
          <a:bodyPr anchor="t" rtlCol="false" tIns="0" lIns="0" bIns="0" rIns="0">
            <a:spAutoFit/>
          </a:bodyPr>
          <a:lstStyle/>
          <a:p>
            <a:pPr algn="ctr">
              <a:lnSpc>
                <a:spcPts val="3483"/>
              </a:lnSpc>
              <a:spcBef>
                <a:spcPct val="0"/>
              </a:spcBef>
            </a:pPr>
          </a:p>
        </p:txBody>
      </p:sp>
      <p:sp>
        <p:nvSpPr>
          <p:cNvPr name="TextBox 25" id="25"/>
          <p:cNvSpPr txBox="true"/>
          <p:nvPr/>
        </p:nvSpPr>
        <p:spPr>
          <a:xfrm rot="0">
            <a:off x="5927976" y="3393192"/>
            <a:ext cx="9672381" cy="644295"/>
          </a:xfrm>
          <a:prstGeom prst="rect">
            <a:avLst/>
          </a:prstGeom>
        </p:spPr>
        <p:txBody>
          <a:bodyPr anchor="t" rtlCol="false" tIns="0" lIns="0" bIns="0" rIns="0">
            <a:spAutoFit/>
          </a:bodyPr>
          <a:lstStyle/>
          <a:p>
            <a:pPr algn="l">
              <a:lnSpc>
                <a:spcPts val="4999"/>
              </a:lnSpc>
            </a:pPr>
            <a:r>
              <a:rPr lang="en-US" b="true" sz="4018">
                <a:solidFill>
                  <a:srgbClr val="517EBF"/>
                </a:solidFill>
                <a:latin typeface="Times New Roman Bold"/>
                <a:ea typeface="Times New Roman Bold"/>
                <a:cs typeface="Times New Roman Bold"/>
                <a:sym typeface="Times New Roman Bold"/>
              </a:rPr>
              <a:t>Why we use data Warehouse?</a:t>
            </a:r>
          </a:p>
        </p:txBody>
      </p:sp>
      <p:grpSp>
        <p:nvGrpSpPr>
          <p:cNvPr name="Group 26" id="26"/>
          <p:cNvGrpSpPr/>
          <p:nvPr/>
        </p:nvGrpSpPr>
        <p:grpSpPr>
          <a:xfrm rot="0">
            <a:off x="6190896" y="4042366"/>
            <a:ext cx="1381570" cy="1381570"/>
            <a:chOff x="0" y="0"/>
            <a:chExt cx="1842094" cy="1842094"/>
          </a:xfrm>
        </p:grpSpPr>
        <p:sp>
          <p:nvSpPr>
            <p:cNvPr name="Freeform 27" id="27"/>
            <p:cNvSpPr/>
            <p:nvPr/>
          </p:nvSpPr>
          <p:spPr>
            <a:xfrm flipH="false" flipV="false" rot="0">
              <a:off x="0" y="0"/>
              <a:ext cx="1842094" cy="1842094"/>
            </a:xfrm>
            <a:custGeom>
              <a:avLst/>
              <a:gdLst/>
              <a:ahLst/>
              <a:cxnLst/>
              <a:rect r="r" b="b" t="t" l="l"/>
              <a:pathLst>
                <a:path h="1842094" w="1842094">
                  <a:moveTo>
                    <a:pt x="0" y="0"/>
                  </a:moveTo>
                  <a:lnTo>
                    <a:pt x="1842094" y="0"/>
                  </a:lnTo>
                  <a:lnTo>
                    <a:pt x="1842094" y="1842094"/>
                  </a:lnTo>
                  <a:lnTo>
                    <a:pt x="0" y="18420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28" id="28"/>
            <p:cNvGrpSpPr/>
            <p:nvPr/>
          </p:nvGrpSpPr>
          <p:grpSpPr>
            <a:xfrm rot="0">
              <a:off x="234714" y="234714"/>
              <a:ext cx="1372665" cy="1372665"/>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0" id="3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31" id="31"/>
            <p:cNvSpPr txBox="true"/>
            <p:nvPr/>
          </p:nvSpPr>
          <p:spPr>
            <a:xfrm rot="0">
              <a:off x="281163" y="586893"/>
              <a:ext cx="1279767" cy="658783"/>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1</a:t>
              </a:r>
            </a:p>
          </p:txBody>
        </p:sp>
      </p:grpSp>
      <p:grpSp>
        <p:nvGrpSpPr>
          <p:cNvPr name="Group 32" id="32"/>
          <p:cNvGrpSpPr/>
          <p:nvPr/>
        </p:nvGrpSpPr>
        <p:grpSpPr>
          <a:xfrm rot="0">
            <a:off x="6321872" y="8723444"/>
            <a:ext cx="1381570" cy="1381570"/>
            <a:chOff x="0" y="0"/>
            <a:chExt cx="1842094" cy="1842094"/>
          </a:xfrm>
        </p:grpSpPr>
        <p:sp>
          <p:nvSpPr>
            <p:cNvPr name="Freeform 33" id="33"/>
            <p:cNvSpPr/>
            <p:nvPr/>
          </p:nvSpPr>
          <p:spPr>
            <a:xfrm flipH="false" flipV="false" rot="0">
              <a:off x="0" y="0"/>
              <a:ext cx="1842094" cy="1842094"/>
            </a:xfrm>
            <a:custGeom>
              <a:avLst/>
              <a:gdLst/>
              <a:ahLst/>
              <a:cxnLst/>
              <a:rect r="r" b="b" t="t" l="l"/>
              <a:pathLst>
                <a:path h="1842094" w="1842094">
                  <a:moveTo>
                    <a:pt x="0" y="0"/>
                  </a:moveTo>
                  <a:lnTo>
                    <a:pt x="1842094" y="0"/>
                  </a:lnTo>
                  <a:lnTo>
                    <a:pt x="1842094" y="1842094"/>
                  </a:lnTo>
                  <a:lnTo>
                    <a:pt x="0" y="18420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34" id="34"/>
            <p:cNvGrpSpPr/>
            <p:nvPr/>
          </p:nvGrpSpPr>
          <p:grpSpPr>
            <a:xfrm rot="0">
              <a:off x="234714" y="234714"/>
              <a:ext cx="1372665" cy="137266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6" id="36"/>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37" id="37"/>
            <p:cNvSpPr txBox="true"/>
            <p:nvPr/>
          </p:nvSpPr>
          <p:spPr>
            <a:xfrm rot="0">
              <a:off x="281163" y="586893"/>
              <a:ext cx="1279767" cy="658783"/>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4</a:t>
              </a:r>
            </a:p>
          </p:txBody>
        </p:sp>
      </p:grpSp>
      <p:sp>
        <p:nvSpPr>
          <p:cNvPr name="TextBox 38" id="38"/>
          <p:cNvSpPr txBox="true"/>
          <p:nvPr/>
        </p:nvSpPr>
        <p:spPr>
          <a:xfrm rot="0">
            <a:off x="7953731" y="8799493"/>
            <a:ext cx="9694809" cy="898564"/>
          </a:xfrm>
          <a:prstGeom prst="rect">
            <a:avLst/>
          </a:prstGeom>
        </p:spPr>
        <p:txBody>
          <a:bodyPr anchor="t" rtlCol="false" tIns="0" lIns="0" bIns="0" rIns="0">
            <a:spAutoFit/>
          </a:bodyPr>
          <a:lstStyle/>
          <a:p>
            <a:pPr algn="l">
              <a:lnSpc>
                <a:spcPts val="3525"/>
              </a:lnSpc>
            </a:pPr>
            <a:r>
              <a:rPr lang="en-US" sz="2833">
                <a:solidFill>
                  <a:srgbClr val="2D2261"/>
                </a:solidFill>
                <a:latin typeface="Red Hat Display"/>
                <a:ea typeface="Red Hat Display"/>
                <a:cs typeface="Red Hat Display"/>
                <a:sym typeface="Red Hat Display"/>
              </a:rPr>
              <a:t>It reduces complexity by separating analytics from daily operational systems.</a:t>
            </a:r>
          </a:p>
        </p:txBody>
      </p:sp>
      <p:sp>
        <p:nvSpPr>
          <p:cNvPr name="TextBox 39" id="39"/>
          <p:cNvSpPr txBox="true"/>
          <p:nvPr/>
        </p:nvSpPr>
        <p:spPr>
          <a:xfrm rot="0">
            <a:off x="7805917" y="7448084"/>
            <a:ext cx="9694809" cy="450889"/>
          </a:xfrm>
          <a:prstGeom prst="rect">
            <a:avLst/>
          </a:prstGeom>
        </p:spPr>
        <p:txBody>
          <a:bodyPr anchor="t" rtlCol="false" tIns="0" lIns="0" bIns="0" rIns="0">
            <a:spAutoFit/>
          </a:bodyPr>
          <a:lstStyle/>
          <a:p>
            <a:pPr algn="l">
              <a:lnSpc>
                <a:spcPts val="3525"/>
              </a:lnSpc>
            </a:pPr>
            <a:r>
              <a:rPr lang="en-US" sz="2833">
                <a:solidFill>
                  <a:srgbClr val="2D2261"/>
                </a:solidFill>
                <a:latin typeface="Red Hat Display"/>
                <a:ea typeface="Red Hat Display"/>
                <a:cs typeface="Red Hat Display"/>
                <a:sym typeface="Red Hat Display"/>
              </a:rPr>
              <a:t>It stores historical data, enabling comparisons over time.</a:t>
            </a:r>
          </a:p>
        </p:txBody>
      </p:sp>
      <p:sp>
        <p:nvSpPr>
          <p:cNvPr name="TextBox 40" id="40"/>
          <p:cNvSpPr txBox="true"/>
          <p:nvPr/>
        </p:nvSpPr>
        <p:spPr>
          <a:xfrm rot="0">
            <a:off x="7703442" y="5833082"/>
            <a:ext cx="9694809" cy="898564"/>
          </a:xfrm>
          <a:prstGeom prst="rect">
            <a:avLst/>
          </a:prstGeom>
        </p:spPr>
        <p:txBody>
          <a:bodyPr anchor="t" rtlCol="false" tIns="0" lIns="0" bIns="0" rIns="0">
            <a:spAutoFit/>
          </a:bodyPr>
          <a:lstStyle/>
          <a:p>
            <a:pPr algn="l">
              <a:lnSpc>
                <a:spcPts val="3525"/>
              </a:lnSpc>
            </a:pPr>
            <a:r>
              <a:rPr lang="en-US" sz="2833">
                <a:solidFill>
                  <a:srgbClr val="2D2261"/>
                </a:solidFill>
                <a:latin typeface="Red Hat Display"/>
                <a:ea typeface="Red Hat Display"/>
                <a:cs typeface="Red Hat Display"/>
                <a:sym typeface="Red Hat Display"/>
              </a:rPr>
              <a:t>It supports customer churn prediction, sales trend tracking, and product performance evaluation.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5114451" y="331022"/>
            <a:ext cx="9759051" cy="820234"/>
          </a:xfrm>
          <a:prstGeom prst="rect">
            <a:avLst/>
          </a:prstGeom>
        </p:spPr>
        <p:txBody>
          <a:bodyPr anchor="t" rtlCol="false" tIns="0" lIns="0" bIns="0" rIns="0">
            <a:spAutoFit/>
          </a:bodyPr>
          <a:lstStyle/>
          <a:p>
            <a:pPr algn="ctr">
              <a:lnSpc>
                <a:spcPts val="6765"/>
              </a:lnSpc>
            </a:pPr>
            <a:r>
              <a:rPr lang="en-US" b="true" sz="4832">
                <a:solidFill>
                  <a:srgbClr val="517EBF"/>
                </a:solidFill>
                <a:latin typeface="Red Hat Display Bold"/>
                <a:ea typeface="Red Hat Display Bold"/>
                <a:cs typeface="Red Hat Display Bold"/>
                <a:sym typeface="Red Hat Display Bold"/>
              </a:rPr>
              <a:t>Schema Overview (Star Schema)</a:t>
            </a:r>
          </a:p>
        </p:txBody>
      </p:sp>
      <p:sp>
        <p:nvSpPr>
          <p:cNvPr name="Freeform 3" id="3"/>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426524">
            <a:off x="-4117112" y="-5037110"/>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624874">
            <a:off x="-1551203" y="8780359"/>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830696">
            <a:off x="16277551" y="-1028700"/>
            <a:ext cx="2835471" cy="4114800"/>
          </a:xfrm>
          <a:custGeom>
            <a:avLst/>
            <a:gdLst/>
            <a:ahLst/>
            <a:cxnLst/>
            <a:rect r="r" b="b" t="t" l="l"/>
            <a:pathLst>
              <a:path h="4114800" w="2835471">
                <a:moveTo>
                  <a:pt x="0" y="0"/>
                </a:moveTo>
                <a:lnTo>
                  <a:pt x="2835472" y="0"/>
                </a:lnTo>
                <a:lnTo>
                  <a:pt x="283547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8152859" y="2892706"/>
            <a:ext cx="9910516" cy="5020206"/>
          </a:xfrm>
          <a:custGeom>
            <a:avLst/>
            <a:gdLst/>
            <a:ahLst/>
            <a:cxnLst/>
            <a:rect r="r" b="b" t="t" l="l"/>
            <a:pathLst>
              <a:path h="5020206" w="9910516">
                <a:moveTo>
                  <a:pt x="0" y="0"/>
                </a:moveTo>
                <a:lnTo>
                  <a:pt x="9910515" y="0"/>
                </a:lnTo>
                <a:lnTo>
                  <a:pt x="9910515" y="5020206"/>
                </a:lnTo>
                <a:lnTo>
                  <a:pt x="0" y="5020206"/>
                </a:lnTo>
                <a:lnTo>
                  <a:pt x="0" y="0"/>
                </a:lnTo>
                <a:close/>
              </a:path>
            </a:pathLst>
          </a:custGeom>
          <a:blipFill>
            <a:blip r:embed="rId10"/>
            <a:stretch>
              <a:fillRect l="-5791" t="-4703" r="-8909" b="-305"/>
            </a:stretch>
          </a:blipFill>
        </p:spPr>
      </p:sp>
      <p:sp>
        <p:nvSpPr>
          <p:cNvPr name="TextBox 8" id="8"/>
          <p:cNvSpPr txBox="true"/>
          <p:nvPr/>
        </p:nvSpPr>
        <p:spPr>
          <a:xfrm rot="0">
            <a:off x="451665" y="4047501"/>
            <a:ext cx="2843290" cy="375438"/>
          </a:xfrm>
          <a:prstGeom prst="rect">
            <a:avLst/>
          </a:prstGeom>
        </p:spPr>
        <p:txBody>
          <a:bodyPr anchor="t" rtlCol="false" tIns="0" lIns="0" bIns="0" rIns="0">
            <a:spAutoFit/>
          </a:bodyPr>
          <a:lstStyle/>
          <a:p>
            <a:pPr algn="ctr">
              <a:lnSpc>
                <a:spcPts val="3165"/>
              </a:lnSpc>
            </a:pPr>
            <a:r>
              <a:rPr lang="en-US" b="true" sz="2261">
                <a:solidFill>
                  <a:srgbClr val="FBFCFE"/>
                </a:solidFill>
                <a:latin typeface="Red Hat Display Bold"/>
                <a:ea typeface="Red Hat Display Bold"/>
                <a:cs typeface="Red Hat Display Bold"/>
                <a:sym typeface="Red Hat Display Bold"/>
              </a:rPr>
              <a:t>Gather Data</a:t>
            </a:r>
          </a:p>
        </p:txBody>
      </p:sp>
      <p:sp>
        <p:nvSpPr>
          <p:cNvPr name="TextBox 9" id="9"/>
          <p:cNvSpPr txBox="true"/>
          <p:nvPr/>
        </p:nvSpPr>
        <p:spPr>
          <a:xfrm rot="0">
            <a:off x="1488904" y="1180669"/>
            <a:ext cx="13733675" cy="2675494"/>
          </a:xfrm>
          <a:prstGeom prst="rect">
            <a:avLst/>
          </a:prstGeom>
        </p:spPr>
        <p:txBody>
          <a:bodyPr anchor="t" rtlCol="false" tIns="0" lIns="0" bIns="0" rIns="0">
            <a:spAutoFit/>
          </a:bodyPr>
          <a:lstStyle/>
          <a:p>
            <a:pPr algn="l">
              <a:lnSpc>
                <a:spcPts val="4221"/>
              </a:lnSpc>
            </a:pPr>
            <a:r>
              <a:rPr lang="en-US" sz="3015" b="true">
                <a:solidFill>
                  <a:srgbClr val="517EBF"/>
                </a:solidFill>
                <a:latin typeface="Times New Roman Bold"/>
                <a:ea typeface="Times New Roman Bold"/>
                <a:cs typeface="Times New Roman Bold"/>
                <a:sym typeface="Times New Roman Bold"/>
              </a:rPr>
              <a:t>Schema Structure in Our Data Warehouse:</a:t>
            </a:r>
          </a:p>
          <a:p>
            <a:pPr algn="l">
              <a:lnSpc>
                <a:spcPts val="3381"/>
              </a:lnSpc>
            </a:pPr>
            <a:r>
              <a:rPr lang="en-US" sz="2415">
                <a:solidFill>
                  <a:srgbClr val="000000"/>
                </a:solidFill>
                <a:latin typeface="Times New Roman"/>
                <a:ea typeface="Times New Roman"/>
                <a:cs typeface="Times New Roman"/>
                <a:sym typeface="Times New Roman"/>
              </a:rPr>
              <a:t>Our schema is designed to support analytical queries about customer behavior, product performance, and purchase trends. It follows a star schema layout with fact tables at the center and dimension tables around them. Star schema enabling multi-angle analysis across customer, product, and purchase dimensions. It supports churn prediction, and product insights.</a:t>
            </a:r>
          </a:p>
          <a:p>
            <a:pPr algn="l">
              <a:lnSpc>
                <a:spcPts val="3241"/>
              </a:lnSpc>
            </a:pPr>
          </a:p>
        </p:txBody>
      </p:sp>
      <p:sp>
        <p:nvSpPr>
          <p:cNvPr name="TextBox 10" id="10"/>
          <p:cNvSpPr txBox="true"/>
          <p:nvPr/>
        </p:nvSpPr>
        <p:spPr>
          <a:xfrm rot="0">
            <a:off x="1488904" y="3603705"/>
            <a:ext cx="5611377" cy="3389013"/>
          </a:xfrm>
          <a:prstGeom prst="rect">
            <a:avLst/>
          </a:prstGeom>
        </p:spPr>
        <p:txBody>
          <a:bodyPr anchor="t" rtlCol="false" tIns="0" lIns="0" bIns="0" rIns="0">
            <a:spAutoFit/>
          </a:bodyPr>
          <a:lstStyle/>
          <a:p>
            <a:pPr algn="l">
              <a:lnSpc>
                <a:spcPts val="4248"/>
              </a:lnSpc>
            </a:pPr>
            <a:r>
              <a:rPr lang="en-US" sz="3034" b="true">
                <a:solidFill>
                  <a:srgbClr val="517EBF"/>
                </a:solidFill>
                <a:latin typeface="Times New Roman Bold"/>
                <a:ea typeface="Times New Roman Bold"/>
                <a:cs typeface="Times New Roman Bold"/>
                <a:sym typeface="Times New Roman Bold"/>
              </a:rPr>
              <a:t>Key Components:</a:t>
            </a:r>
          </a:p>
          <a:p>
            <a:pPr algn="l" marL="525698" indent="-262849" lvl="1">
              <a:lnSpc>
                <a:spcPts val="3408"/>
              </a:lnSpc>
              <a:buFont typeface="Arial"/>
              <a:buChar char="•"/>
            </a:pPr>
            <a:r>
              <a:rPr lang="en-US" sz="2434">
                <a:solidFill>
                  <a:srgbClr val="000000"/>
                </a:solidFill>
                <a:latin typeface="Times New Roman"/>
                <a:ea typeface="Times New Roman"/>
                <a:cs typeface="Times New Roman"/>
                <a:sym typeface="Times New Roman"/>
              </a:rPr>
              <a:t>Customer Dimension </a:t>
            </a:r>
          </a:p>
          <a:p>
            <a:pPr algn="l" marL="525698" indent="-262849" lvl="1">
              <a:lnSpc>
                <a:spcPts val="3408"/>
              </a:lnSpc>
              <a:buFont typeface="Arial"/>
              <a:buChar char="•"/>
            </a:pPr>
            <a:r>
              <a:rPr lang="en-US" sz="2434">
                <a:solidFill>
                  <a:srgbClr val="000000"/>
                </a:solidFill>
                <a:latin typeface="Times New Roman"/>
                <a:ea typeface="Times New Roman"/>
                <a:cs typeface="Times New Roman"/>
                <a:sym typeface="Times New Roman"/>
              </a:rPr>
              <a:t>Product Dimension </a:t>
            </a:r>
          </a:p>
          <a:p>
            <a:pPr algn="l" marL="525698" indent="-262849" lvl="1">
              <a:lnSpc>
                <a:spcPts val="3408"/>
              </a:lnSpc>
              <a:buFont typeface="Arial"/>
              <a:buChar char="•"/>
            </a:pPr>
            <a:r>
              <a:rPr lang="en-US" sz="2434">
                <a:solidFill>
                  <a:srgbClr val="000000"/>
                </a:solidFill>
                <a:latin typeface="Times New Roman"/>
                <a:ea typeface="Times New Roman"/>
                <a:cs typeface="Times New Roman"/>
                <a:sym typeface="Times New Roman"/>
              </a:rPr>
              <a:t>Purchase Dimension</a:t>
            </a:r>
          </a:p>
          <a:p>
            <a:pPr algn="l" marL="525698" indent="-262849" lvl="1">
              <a:lnSpc>
                <a:spcPts val="3408"/>
              </a:lnSpc>
              <a:buFont typeface="Arial"/>
              <a:buChar char="•"/>
            </a:pPr>
            <a:r>
              <a:rPr lang="en-US" sz="2434">
                <a:solidFill>
                  <a:srgbClr val="000000"/>
                </a:solidFill>
                <a:latin typeface="Times New Roman"/>
                <a:ea typeface="Times New Roman"/>
                <a:cs typeface="Times New Roman"/>
                <a:sym typeface="Times New Roman"/>
              </a:rPr>
              <a:t>Purchase Details Fact Table </a:t>
            </a:r>
          </a:p>
          <a:p>
            <a:pPr algn="l">
              <a:lnSpc>
                <a:spcPts val="1868"/>
              </a:lnSpc>
            </a:pPr>
          </a:p>
          <a:p>
            <a:pPr algn="l">
              <a:lnSpc>
                <a:spcPts val="2454"/>
              </a:lnSpc>
            </a:pPr>
          </a:p>
          <a:p>
            <a:pPr algn="l">
              <a:lnSpc>
                <a:spcPts val="2454"/>
              </a:lnSpc>
            </a:pPr>
          </a:p>
          <a:p>
            <a:pPr algn="l">
              <a:lnSpc>
                <a:spcPts val="2259"/>
              </a:lnSpc>
            </a:pPr>
          </a:p>
        </p:txBody>
      </p:sp>
      <p:sp>
        <p:nvSpPr>
          <p:cNvPr name="TextBox 11" id="11"/>
          <p:cNvSpPr txBox="true"/>
          <p:nvPr/>
        </p:nvSpPr>
        <p:spPr>
          <a:xfrm rot="0">
            <a:off x="1334377" y="6043584"/>
            <a:ext cx="8505072" cy="5604275"/>
          </a:xfrm>
          <a:prstGeom prst="rect">
            <a:avLst/>
          </a:prstGeom>
        </p:spPr>
        <p:txBody>
          <a:bodyPr anchor="t" rtlCol="false" tIns="0" lIns="0" bIns="0" rIns="0">
            <a:spAutoFit/>
          </a:bodyPr>
          <a:lstStyle/>
          <a:p>
            <a:pPr algn="l">
              <a:lnSpc>
                <a:spcPts val="4309"/>
              </a:lnSpc>
            </a:pPr>
            <a:r>
              <a:rPr lang="en-US" sz="3078" b="true">
                <a:solidFill>
                  <a:srgbClr val="517EBF"/>
                </a:solidFill>
                <a:latin typeface="Red Hat Display Bold"/>
                <a:ea typeface="Red Hat Display Bold"/>
                <a:cs typeface="Red Hat Display Bold"/>
                <a:sym typeface="Red Hat Display Bold"/>
              </a:rPr>
              <a:t>How it Supports Analytics?</a:t>
            </a:r>
          </a:p>
          <a:p>
            <a:pPr algn="l" marL="513424" indent="-256712" lvl="1">
              <a:lnSpc>
                <a:spcPts val="3329"/>
              </a:lnSpc>
              <a:buFont typeface="Arial"/>
              <a:buChar char="•"/>
            </a:pPr>
            <a:r>
              <a:rPr lang="en-US" sz="2378">
                <a:solidFill>
                  <a:srgbClr val="000000"/>
                </a:solidFill>
                <a:latin typeface="Red Hat Display"/>
                <a:ea typeface="Red Hat Display"/>
                <a:cs typeface="Red Hat Display"/>
                <a:sym typeface="Red Hat Display"/>
              </a:rPr>
              <a:t>The structure links purchases with customers and products , enabling a complete view of customer behavior.</a:t>
            </a:r>
          </a:p>
          <a:p>
            <a:pPr algn="l" marL="513424" indent="-256712" lvl="1">
              <a:lnSpc>
                <a:spcPts val="3329"/>
              </a:lnSpc>
              <a:buFont typeface="Arial"/>
              <a:buChar char="•"/>
            </a:pPr>
            <a:r>
              <a:rPr lang="en-US" sz="2378">
                <a:solidFill>
                  <a:srgbClr val="000000"/>
                </a:solidFill>
                <a:latin typeface="Red Hat Display"/>
                <a:ea typeface="Red Hat Display"/>
                <a:cs typeface="Red Hat Display"/>
                <a:sym typeface="Red Hat Display"/>
              </a:rPr>
              <a:t>It allows analysis of sales trends, churn patterns, return rates, and product demand.</a:t>
            </a:r>
          </a:p>
          <a:p>
            <a:pPr algn="l" marL="513424" indent="-256712" lvl="1">
              <a:lnSpc>
                <a:spcPts val="3329"/>
              </a:lnSpc>
              <a:buFont typeface="Arial"/>
              <a:buChar char="•"/>
            </a:pPr>
            <a:r>
              <a:rPr lang="en-US" sz="2378">
                <a:solidFill>
                  <a:srgbClr val="000000"/>
                </a:solidFill>
                <a:latin typeface="Red Hat Display"/>
                <a:ea typeface="Red Hat Display"/>
                <a:cs typeface="Red Hat Display"/>
                <a:sym typeface="Red Hat Display"/>
              </a:rPr>
              <a:t>It organizes data in a way that supports efficient batch processing and reliable reporting.</a:t>
            </a:r>
          </a:p>
          <a:p>
            <a:pPr algn="l" marL="513424" indent="-256712" lvl="1">
              <a:lnSpc>
                <a:spcPts val="3329"/>
              </a:lnSpc>
              <a:buFont typeface="Arial"/>
              <a:buChar char="•"/>
            </a:pPr>
            <a:r>
              <a:rPr lang="en-US" sz="2378">
                <a:solidFill>
                  <a:srgbClr val="000000"/>
                </a:solidFill>
                <a:latin typeface="Red Hat Display"/>
                <a:ea typeface="Red Hat Display"/>
                <a:cs typeface="Red Hat Display"/>
                <a:sym typeface="Red Hat Display"/>
              </a:rPr>
              <a:t>Ensures consistent, accurate insights for dashboards and data-driven decision-making.</a:t>
            </a:r>
          </a:p>
          <a:p>
            <a:pPr algn="l">
              <a:lnSpc>
                <a:spcPts val="4309"/>
              </a:lnSpc>
            </a:pPr>
          </a:p>
          <a:p>
            <a:pPr algn="l">
              <a:lnSpc>
                <a:spcPts val="3749"/>
              </a:lnSpc>
            </a:pPr>
          </a:p>
          <a:p>
            <a:pPr algn="ctr">
              <a:lnSpc>
                <a:spcPts val="3944"/>
              </a:lnSpc>
            </a:pPr>
          </a:p>
          <a:p>
            <a:pPr algn="ctr">
              <a:lnSpc>
                <a:spcPts val="1596"/>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3368968" y="952500"/>
            <a:ext cx="11651245"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Data Preprocessing &amp; Feature Engineering</a:t>
            </a:r>
          </a:p>
        </p:txBody>
      </p:sp>
      <p:sp>
        <p:nvSpPr>
          <p:cNvPr name="Freeform 3" id="3"/>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624874">
            <a:off x="-1621351" y="9373148"/>
            <a:ext cx="3242701" cy="1827704"/>
          </a:xfrm>
          <a:custGeom>
            <a:avLst/>
            <a:gdLst/>
            <a:ahLst/>
            <a:cxnLst/>
            <a:rect r="r" b="b" t="t" l="l"/>
            <a:pathLst>
              <a:path h="1827704" w="3242701">
                <a:moveTo>
                  <a:pt x="0" y="0"/>
                </a:moveTo>
                <a:lnTo>
                  <a:pt x="3242702" y="0"/>
                </a:lnTo>
                <a:lnTo>
                  <a:pt x="3242702"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651994" y="2248393"/>
            <a:ext cx="15607306" cy="7457334"/>
          </a:xfrm>
          <a:prstGeom prst="rect">
            <a:avLst/>
          </a:prstGeom>
        </p:spPr>
        <p:txBody>
          <a:bodyPr anchor="t" rtlCol="false" tIns="0" lIns="0" bIns="0" rIns="0">
            <a:spAutoFit/>
          </a:bodyPr>
          <a:lstStyle/>
          <a:p>
            <a:pPr algn="l">
              <a:lnSpc>
                <a:spcPts val="3715"/>
              </a:lnSpc>
            </a:pPr>
            <a:r>
              <a:rPr lang="en-US" sz="2654">
                <a:solidFill>
                  <a:srgbClr val="000000"/>
                </a:solidFill>
                <a:latin typeface="Roboto Slab"/>
                <a:ea typeface="Roboto Slab"/>
                <a:cs typeface="Roboto Slab"/>
                <a:sym typeface="Roboto Slab"/>
              </a:rPr>
              <a:t>I. Customer-Centric Feature Engineering</a:t>
            </a:r>
          </a:p>
          <a:p>
            <a:pPr algn="l" marL="573038" indent="-286519" lvl="1">
              <a:lnSpc>
                <a:spcPts val="3715"/>
              </a:lnSpc>
              <a:buFont typeface="Arial"/>
              <a:buChar char="•"/>
            </a:pPr>
            <a:r>
              <a:rPr lang="en-US" sz="2654">
                <a:solidFill>
                  <a:srgbClr val="000000"/>
                </a:solidFill>
                <a:latin typeface="Roboto Slab"/>
                <a:ea typeface="Roboto Slab"/>
                <a:cs typeface="Roboto Slab"/>
                <a:sym typeface="Roboto Slab"/>
              </a:rPr>
              <a:t>Financial Metrics: Calculated the total_spent (sum of purchases) and avg_quantity (mean quantity per order).</a:t>
            </a:r>
          </a:p>
          <a:p>
            <a:pPr algn="l">
              <a:lnSpc>
                <a:spcPts val="3715"/>
              </a:lnSpc>
            </a:pPr>
          </a:p>
          <a:p>
            <a:pPr algn="l">
              <a:lnSpc>
                <a:spcPts val="3715"/>
              </a:lnSpc>
            </a:pPr>
          </a:p>
          <a:p>
            <a:pPr algn="l">
              <a:lnSpc>
                <a:spcPts val="3715"/>
              </a:lnSpc>
            </a:pPr>
          </a:p>
          <a:p>
            <a:pPr algn="l">
              <a:lnSpc>
                <a:spcPts val="3715"/>
              </a:lnSpc>
            </a:pPr>
          </a:p>
          <a:p>
            <a:pPr algn="l">
              <a:lnSpc>
                <a:spcPts val="3715"/>
              </a:lnSpc>
            </a:pPr>
          </a:p>
          <a:p>
            <a:pPr algn="l" marL="573038" indent="-286519" lvl="1">
              <a:lnSpc>
                <a:spcPts val="3715"/>
              </a:lnSpc>
              <a:buFont typeface="Arial"/>
              <a:buChar char="•"/>
            </a:pPr>
            <a:r>
              <a:rPr lang="en-US" sz="2654">
                <a:solidFill>
                  <a:srgbClr val="000000"/>
                </a:solidFill>
                <a:latin typeface="Roboto Slab"/>
                <a:ea typeface="Roboto Slab"/>
                <a:cs typeface="Roboto Slab"/>
                <a:sym typeface="Roboto Slab"/>
              </a:rPr>
              <a:t>Loyalty Features: Derived time-based metrics:</a:t>
            </a:r>
          </a:p>
          <a:p>
            <a:pPr algn="l" marL="1146076" indent="-382025" lvl="2">
              <a:lnSpc>
                <a:spcPts val="3715"/>
              </a:lnSpc>
              <a:buFont typeface="Arial"/>
              <a:buChar char="⚬"/>
            </a:pPr>
            <a:r>
              <a:rPr lang="en-US" sz="2654">
                <a:solidFill>
                  <a:srgbClr val="000000"/>
                </a:solidFill>
                <a:latin typeface="Roboto Slab"/>
                <a:ea typeface="Roboto Slab"/>
                <a:cs typeface="Roboto Slab"/>
                <a:sym typeface="Roboto Slab"/>
              </a:rPr>
              <a:t>Recency (recency_days): Days since the last purchase.</a:t>
            </a:r>
          </a:p>
          <a:p>
            <a:pPr algn="l" marL="1146076" indent="-382025" lvl="2">
              <a:lnSpc>
                <a:spcPts val="3715"/>
              </a:lnSpc>
              <a:buFont typeface="Arial"/>
              <a:buChar char="⚬"/>
            </a:pPr>
            <a:r>
              <a:rPr lang="en-US" sz="2654">
                <a:solidFill>
                  <a:srgbClr val="000000"/>
                </a:solidFill>
                <a:latin typeface="Roboto Slab"/>
                <a:ea typeface="Roboto Slab"/>
                <a:cs typeface="Roboto Slab"/>
                <a:sym typeface="Roboto Slab"/>
              </a:rPr>
              <a:t>Tenure (tenure_days): Total duration of the customer relationship.</a:t>
            </a:r>
          </a:p>
          <a:p>
            <a:pPr algn="l">
              <a:lnSpc>
                <a:spcPts val="3715"/>
              </a:lnSpc>
            </a:pPr>
          </a:p>
          <a:p>
            <a:pPr algn="l">
              <a:lnSpc>
                <a:spcPts val="3715"/>
              </a:lnSpc>
            </a:pPr>
          </a:p>
          <a:p>
            <a:pPr algn="l">
              <a:lnSpc>
                <a:spcPts val="3715"/>
              </a:lnSpc>
            </a:pPr>
          </a:p>
          <a:p>
            <a:pPr algn="l">
              <a:lnSpc>
                <a:spcPts val="3715"/>
              </a:lnSpc>
            </a:pPr>
          </a:p>
          <a:p>
            <a:pPr algn="l">
              <a:lnSpc>
                <a:spcPts val="3715"/>
              </a:lnSpc>
              <a:spcBef>
                <a:spcPct val="0"/>
              </a:spcBef>
            </a:pPr>
          </a:p>
        </p:txBody>
      </p:sp>
      <p:sp>
        <p:nvSpPr>
          <p:cNvPr name="Freeform 8" id="8"/>
          <p:cNvSpPr/>
          <p:nvPr/>
        </p:nvSpPr>
        <p:spPr>
          <a:xfrm flipH="false" flipV="false" rot="0">
            <a:off x="3368968" y="7676124"/>
            <a:ext cx="11301259" cy="1582176"/>
          </a:xfrm>
          <a:custGeom>
            <a:avLst/>
            <a:gdLst/>
            <a:ahLst/>
            <a:cxnLst/>
            <a:rect r="r" b="b" t="t" l="l"/>
            <a:pathLst>
              <a:path h="1582176" w="11301259">
                <a:moveTo>
                  <a:pt x="0" y="0"/>
                </a:moveTo>
                <a:lnTo>
                  <a:pt x="11301259" y="0"/>
                </a:lnTo>
                <a:lnTo>
                  <a:pt x="11301259" y="1582176"/>
                </a:lnTo>
                <a:lnTo>
                  <a:pt x="0" y="1582176"/>
                </a:lnTo>
                <a:lnTo>
                  <a:pt x="0" y="0"/>
                </a:lnTo>
                <a:close/>
              </a:path>
            </a:pathLst>
          </a:custGeom>
          <a:blipFill>
            <a:blip r:embed="rId10"/>
            <a:stretch>
              <a:fillRect l="0" t="0" r="0" b="0"/>
            </a:stretch>
          </a:blipFill>
        </p:spPr>
      </p:sp>
      <p:sp>
        <p:nvSpPr>
          <p:cNvPr name="Freeform 9" id="9"/>
          <p:cNvSpPr/>
          <p:nvPr/>
        </p:nvSpPr>
        <p:spPr>
          <a:xfrm flipH="false" flipV="false" rot="0">
            <a:off x="4246493" y="3730377"/>
            <a:ext cx="9896194" cy="2189533"/>
          </a:xfrm>
          <a:custGeom>
            <a:avLst/>
            <a:gdLst/>
            <a:ahLst/>
            <a:cxnLst/>
            <a:rect r="r" b="b" t="t" l="l"/>
            <a:pathLst>
              <a:path h="2189533" w="9896194">
                <a:moveTo>
                  <a:pt x="0" y="0"/>
                </a:moveTo>
                <a:lnTo>
                  <a:pt x="9896194" y="0"/>
                </a:lnTo>
                <a:lnTo>
                  <a:pt x="9896194" y="2189533"/>
                </a:lnTo>
                <a:lnTo>
                  <a:pt x="0" y="2189533"/>
                </a:lnTo>
                <a:lnTo>
                  <a:pt x="0" y="0"/>
                </a:lnTo>
                <a:close/>
              </a:path>
            </a:pathLst>
          </a:custGeom>
          <a:blipFill>
            <a:blip r:embed="rId11"/>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3368968" y="952500"/>
            <a:ext cx="11651245"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Data Preprocessing &amp; Feature Engineering</a:t>
            </a:r>
          </a:p>
        </p:txBody>
      </p:sp>
      <p:sp>
        <p:nvSpPr>
          <p:cNvPr name="Freeform 3" id="3"/>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624874">
            <a:off x="-1621351" y="9373148"/>
            <a:ext cx="3242701" cy="1827704"/>
          </a:xfrm>
          <a:custGeom>
            <a:avLst/>
            <a:gdLst/>
            <a:ahLst/>
            <a:cxnLst/>
            <a:rect r="r" b="b" t="t" l="l"/>
            <a:pathLst>
              <a:path h="1827704" w="3242701">
                <a:moveTo>
                  <a:pt x="0" y="0"/>
                </a:moveTo>
                <a:lnTo>
                  <a:pt x="3242702" y="0"/>
                </a:lnTo>
                <a:lnTo>
                  <a:pt x="3242702"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887754" y="6599549"/>
            <a:ext cx="12674441" cy="554507"/>
          </a:xfrm>
          <a:custGeom>
            <a:avLst/>
            <a:gdLst/>
            <a:ahLst/>
            <a:cxnLst/>
            <a:rect r="r" b="b" t="t" l="l"/>
            <a:pathLst>
              <a:path h="554507" w="12674441">
                <a:moveTo>
                  <a:pt x="0" y="0"/>
                </a:moveTo>
                <a:lnTo>
                  <a:pt x="12674440" y="0"/>
                </a:lnTo>
                <a:lnTo>
                  <a:pt x="12674440" y="554507"/>
                </a:lnTo>
                <a:lnTo>
                  <a:pt x="0" y="554507"/>
                </a:lnTo>
                <a:lnTo>
                  <a:pt x="0" y="0"/>
                </a:lnTo>
                <a:close/>
              </a:path>
            </a:pathLst>
          </a:custGeom>
          <a:blipFill>
            <a:blip r:embed="rId10"/>
            <a:stretch>
              <a:fillRect l="0" t="0" r="0" b="0"/>
            </a:stretch>
          </a:blipFill>
        </p:spPr>
      </p:sp>
      <p:sp>
        <p:nvSpPr>
          <p:cNvPr name="TextBox 8" id="8"/>
          <p:cNvSpPr txBox="true"/>
          <p:nvPr/>
        </p:nvSpPr>
        <p:spPr>
          <a:xfrm rot="0">
            <a:off x="1651994" y="2248393"/>
            <a:ext cx="15607306" cy="4656984"/>
          </a:xfrm>
          <a:prstGeom prst="rect">
            <a:avLst/>
          </a:prstGeom>
        </p:spPr>
        <p:txBody>
          <a:bodyPr anchor="t" rtlCol="false" tIns="0" lIns="0" bIns="0" rIns="0">
            <a:spAutoFit/>
          </a:bodyPr>
          <a:lstStyle/>
          <a:p>
            <a:pPr algn="l">
              <a:lnSpc>
                <a:spcPts val="3715"/>
              </a:lnSpc>
            </a:pPr>
            <a:r>
              <a:rPr lang="en-US" sz="2654">
                <a:solidFill>
                  <a:srgbClr val="000000"/>
                </a:solidFill>
                <a:latin typeface="Roboto Slab"/>
                <a:ea typeface="Roboto Slab"/>
                <a:cs typeface="Roboto Slab"/>
                <a:sym typeface="Roboto Slab"/>
              </a:rPr>
              <a:t>I</a:t>
            </a:r>
            <a:r>
              <a:rPr lang="en-US" sz="2654">
                <a:solidFill>
                  <a:srgbClr val="000000"/>
                </a:solidFill>
                <a:latin typeface="Roboto Slab"/>
                <a:ea typeface="Roboto Slab"/>
                <a:cs typeface="Roboto Slab"/>
                <a:sym typeface="Roboto Slab"/>
              </a:rPr>
              <a:t>I. Encoding &amp; Model Setup</a:t>
            </a:r>
          </a:p>
          <a:p>
            <a:pPr algn="l" marL="573038" indent="-286519" lvl="1">
              <a:lnSpc>
                <a:spcPts val="3715"/>
              </a:lnSpc>
              <a:buFont typeface="Arial"/>
              <a:buChar char="•"/>
            </a:pPr>
            <a:r>
              <a:rPr lang="en-US" sz="2654">
                <a:solidFill>
                  <a:srgbClr val="000000"/>
                </a:solidFill>
                <a:latin typeface="Roboto Slab"/>
                <a:ea typeface="Roboto Slab"/>
                <a:cs typeface="Roboto Slab"/>
                <a:sym typeface="Roboto Slab"/>
              </a:rPr>
              <a:t>Categorical Encoding: Non-numeric features (Gender and most_common_payment) were converted to numerical labels using Label Encoding.</a:t>
            </a:r>
          </a:p>
          <a:p>
            <a:pPr algn="l">
              <a:lnSpc>
                <a:spcPts val="3715"/>
              </a:lnSpc>
            </a:pPr>
          </a:p>
          <a:p>
            <a:pPr algn="l">
              <a:lnSpc>
                <a:spcPts val="3715"/>
              </a:lnSpc>
            </a:pPr>
          </a:p>
          <a:p>
            <a:pPr algn="l">
              <a:lnSpc>
                <a:spcPts val="3715"/>
              </a:lnSpc>
            </a:pPr>
          </a:p>
          <a:p>
            <a:pPr algn="l">
              <a:lnSpc>
                <a:spcPts val="3715"/>
              </a:lnSpc>
            </a:pPr>
          </a:p>
          <a:p>
            <a:pPr algn="l" marL="573038" indent="-286519" lvl="1">
              <a:lnSpc>
                <a:spcPts val="3715"/>
              </a:lnSpc>
              <a:buFont typeface="Arial"/>
              <a:buChar char="•"/>
            </a:pPr>
            <a:r>
              <a:rPr lang="en-US" sz="2654">
                <a:solidFill>
                  <a:srgbClr val="000000"/>
                </a:solidFill>
                <a:latin typeface="Roboto Slab"/>
                <a:ea typeface="Roboto Slab"/>
                <a:cs typeface="Roboto Slab"/>
                <a:sym typeface="Roboto Slab"/>
              </a:rPr>
              <a:t>D</a:t>
            </a:r>
            <a:r>
              <a:rPr lang="en-US" sz="2654">
                <a:solidFill>
                  <a:srgbClr val="000000"/>
                </a:solidFill>
                <a:latin typeface="Roboto Slab"/>
                <a:ea typeface="Roboto Slab"/>
                <a:cs typeface="Roboto Slab"/>
                <a:sym typeface="Roboto Slab"/>
              </a:rPr>
              <a:t>ata Split: The final dataset was split into training (80%) and testing (20%) sets, separating features (X) from the Churn target variable (Y).</a:t>
            </a:r>
          </a:p>
          <a:p>
            <a:pPr algn="l">
              <a:lnSpc>
                <a:spcPts val="3715"/>
              </a:lnSpc>
            </a:pPr>
          </a:p>
        </p:txBody>
      </p:sp>
      <p:sp>
        <p:nvSpPr>
          <p:cNvPr name="Freeform 9" id="9"/>
          <p:cNvSpPr/>
          <p:nvPr/>
        </p:nvSpPr>
        <p:spPr>
          <a:xfrm flipH="false" flipV="false" rot="0">
            <a:off x="3493371" y="3899132"/>
            <a:ext cx="11301259" cy="1412657"/>
          </a:xfrm>
          <a:custGeom>
            <a:avLst/>
            <a:gdLst/>
            <a:ahLst/>
            <a:cxnLst/>
            <a:rect r="r" b="b" t="t" l="l"/>
            <a:pathLst>
              <a:path h="1412657" w="11301259">
                <a:moveTo>
                  <a:pt x="0" y="0"/>
                </a:moveTo>
                <a:lnTo>
                  <a:pt x="11301258" y="0"/>
                </a:lnTo>
                <a:lnTo>
                  <a:pt x="11301258" y="1412657"/>
                </a:lnTo>
                <a:lnTo>
                  <a:pt x="0" y="1412657"/>
                </a:lnTo>
                <a:lnTo>
                  <a:pt x="0" y="0"/>
                </a:lnTo>
                <a:close/>
              </a:path>
            </a:pathLst>
          </a:custGeom>
          <a:blipFill>
            <a:blip r:embed="rId11"/>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3104028" y="1147517"/>
            <a:ext cx="11651245"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Machine Learning Model &amp; Evaluation</a:t>
            </a:r>
          </a:p>
        </p:txBody>
      </p:sp>
      <p:sp>
        <p:nvSpPr>
          <p:cNvPr name="Freeform 3" id="3"/>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624874">
            <a:off x="-1621351" y="9373148"/>
            <a:ext cx="3242701" cy="1827704"/>
          </a:xfrm>
          <a:custGeom>
            <a:avLst/>
            <a:gdLst/>
            <a:ahLst/>
            <a:cxnLst/>
            <a:rect r="r" b="b" t="t" l="l"/>
            <a:pathLst>
              <a:path h="1827704" w="3242701">
                <a:moveTo>
                  <a:pt x="0" y="0"/>
                </a:moveTo>
                <a:lnTo>
                  <a:pt x="3242702" y="0"/>
                </a:lnTo>
                <a:lnTo>
                  <a:pt x="3242702"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028700" y="2523341"/>
            <a:ext cx="16618697" cy="5982360"/>
          </a:xfrm>
          <a:prstGeom prst="rect">
            <a:avLst/>
          </a:prstGeom>
        </p:spPr>
        <p:txBody>
          <a:bodyPr anchor="t" rtlCol="false" tIns="0" lIns="0" bIns="0" rIns="0">
            <a:spAutoFit/>
          </a:bodyPr>
          <a:lstStyle/>
          <a:p>
            <a:pPr algn="l">
              <a:lnSpc>
                <a:spcPts val="3709"/>
              </a:lnSpc>
            </a:pPr>
            <a:r>
              <a:rPr lang="en-US" sz="2649">
                <a:solidFill>
                  <a:srgbClr val="000000"/>
                </a:solidFill>
                <a:latin typeface="Roboto Slab"/>
                <a:ea typeface="Roboto Slab"/>
                <a:cs typeface="Roboto Slab"/>
                <a:sym typeface="Roboto Slab"/>
              </a:rPr>
              <a:t>The objective was to predict customer churn using four classification algorithms: Logistic Regression (baseline), XGBoost, Random Forest, and LightGBM.</a:t>
            </a:r>
          </a:p>
          <a:p>
            <a:pPr algn="l">
              <a:lnSpc>
                <a:spcPts val="3709"/>
              </a:lnSpc>
            </a:pPr>
          </a:p>
          <a:p>
            <a:pPr algn="l">
              <a:lnSpc>
                <a:spcPts val="3709"/>
              </a:lnSpc>
            </a:pPr>
            <a:r>
              <a:rPr lang="en-US" sz="2649">
                <a:solidFill>
                  <a:srgbClr val="000000"/>
                </a:solidFill>
                <a:latin typeface="Roboto Slab"/>
                <a:ea typeface="Roboto Slab"/>
                <a:cs typeface="Roboto Slab"/>
                <a:sym typeface="Roboto Slab"/>
              </a:rPr>
              <a:t>The initial</a:t>
            </a:r>
            <a:r>
              <a:rPr lang="en-US" sz="2649">
                <a:solidFill>
                  <a:srgbClr val="000000"/>
                </a:solidFill>
                <a:latin typeface="Roboto Slab"/>
                <a:ea typeface="Roboto Slab"/>
                <a:cs typeface="Roboto Slab"/>
                <a:sym typeface="Roboto Slab"/>
              </a:rPr>
              <a:t> model run produced high overall accuracy but failed to effectively identify the minority class (churning customers).</a:t>
            </a:r>
          </a:p>
          <a:p>
            <a:pPr algn="l" marL="572100" indent="-286050" lvl="1">
              <a:lnSpc>
                <a:spcPts val="3709"/>
              </a:lnSpc>
              <a:buFont typeface="Arial"/>
              <a:buChar char="•"/>
            </a:pPr>
            <a:r>
              <a:rPr lang="en-US" sz="2649">
                <a:solidFill>
                  <a:srgbClr val="000000"/>
                </a:solidFill>
                <a:latin typeface="Roboto Slab"/>
                <a:ea typeface="Roboto Slab"/>
                <a:cs typeface="Roboto Slab"/>
                <a:sym typeface="Roboto Slab"/>
              </a:rPr>
              <a:t>Overall </a:t>
            </a:r>
            <a:r>
              <a:rPr lang="en-US" sz="2649">
                <a:solidFill>
                  <a:srgbClr val="000000"/>
                </a:solidFill>
                <a:latin typeface="Roboto Slab"/>
                <a:ea typeface="Roboto Slab"/>
                <a:cs typeface="Roboto Slab"/>
                <a:sym typeface="Roboto Slab"/>
              </a:rPr>
              <a:t>Accuracy: Approximately 80% across all models.</a:t>
            </a:r>
          </a:p>
          <a:p>
            <a:pPr algn="l" marL="572100" indent="-286050" lvl="1">
              <a:lnSpc>
                <a:spcPts val="3709"/>
              </a:lnSpc>
              <a:buFont typeface="Arial"/>
              <a:buChar char="•"/>
            </a:pPr>
            <a:r>
              <a:rPr lang="en-US" sz="2649">
                <a:solidFill>
                  <a:srgbClr val="000000"/>
                </a:solidFill>
                <a:latin typeface="Roboto Slab"/>
                <a:ea typeface="Roboto Slab"/>
                <a:cs typeface="Roboto Slab"/>
                <a:sym typeface="Roboto Slab"/>
              </a:rPr>
              <a:t>Root Cause: This high accuracy is misleading and primarily attributed to the severe class imbalance in the dataset (only around $20% churn rate). By predicting "No Churn" for most cases, the model achieves 80% accuracy.</a:t>
            </a:r>
          </a:p>
          <a:p>
            <a:pPr algn="l" marL="572100" indent="-286050" lvl="1">
              <a:lnSpc>
                <a:spcPts val="3709"/>
              </a:lnSpc>
              <a:buFont typeface="Arial"/>
              <a:buChar char="•"/>
            </a:pPr>
            <a:r>
              <a:rPr lang="en-US" sz="2649">
                <a:solidFill>
                  <a:srgbClr val="000000"/>
                </a:solidFill>
                <a:latin typeface="Roboto Slab"/>
                <a:ea typeface="Roboto Slab"/>
                <a:cs typeface="Roboto Slab"/>
                <a:sym typeface="Roboto Slab"/>
              </a:rPr>
              <a:t>Minority Class Performance: All ensemble models (XGBoost, Random Forest, LightGBM) exhibited poor performance on the churn class, with F1, Precision, and Recall scores near 0.0.</a:t>
            </a:r>
          </a:p>
          <a:p>
            <a:pPr algn="l" marL="572100" indent="-286050" lvl="1">
              <a:lnSpc>
                <a:spcPts val="3709"/>
              </a:lnSpc>
              <a:spcBef>
                <a:spcPct val="0"/>
              </a:spcBef>
              <a:buFont typeface="Arial"/>
              <a:buChar char="•"/>
            </a:pPr>
            <a:r>
              <a:rPr lang="en-US" sz="2649">
                <a:solidFill>
                  <a:srgbClr val="000000"/>
                </a:solidFill>
                <a:latin typeface="Roboto Slab"/>
                <a:ea typeface="Roboto Slab"/>
                <a:cs typeface="Roboto Slab"/>
                <a:sym typeface="Roboto Slab"/>
              </a:rPr>
              <a:t>B</a:t>
            </a:r>
            <a:r>
              <a:rPr lang="en-US" sz="2649">
                <a:solidFill>
                  <a:srgbClr val="000000"/>
                </a:solidFill>
                <a:latin typeface="Roboto Slab"/>
                <a:ea typeface="Roboto Slab"/>
                <a:cs typeface="Roboto Slab"/>
                <a:sym typeface="Roboto Slab"/>
              </a:rPr>
              <a:t>aseline Behavior: The Logistic Regression baseline's performance suggests it defaulted almost entirely to predicting the majority class ("No Churn").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3104028" y="1147517"/>
            <a:ext cx="11651245"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Machine Learning Model &amp; Evaluation</a:t>
            </a:r>
          </a:p>
        </p:txBody>
      </p:sp>
      <p:sp>
        <p:nvSpPr>
          <p:cNvPr name="Freeform 3" id="3"/>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624874">
            <a:off x="-1621351" y="9373148"/>
            <a:ext cx="3242701" cy="1827704"/>
          </a:xfrm>
          <a:custGeom>
            <a:avLst/>
            <a:gdLst/>
            <a:ahLst/>
            <a:cxnLst/>
            <a:rect r="r" b="b" t="t" l="l"/>
            <a:pathLst>
              <a:path h="1827704" w="3242701">
                <a:moveTo>
                  <a:pt x="0" y="0"/>
                </a:moveTo>
                <a:lnTo>
                  <a:pt x="3242702" y="0"/>
                </a:lnTo>
                <a:lnTo>
                  <a:pt x="3242702"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28700" y="2385046"/>
            <a:ext cx="16803682" cy="6805491"/>
          </a:xfrm>
          <a:custGeom>
            <a:avLst/>
            <a:gdLst/>
            <a:ahLst/>
            <a:cxnLst/>
            <a:rect r="r" b="b" t="t" l="l"/>
            <a:pathLst>
              <a:path h="6805491" w="16803682">
                <a:moveTo>
                  <a:pt x="0" y="0"/>
                </a:moveTo>
                <a:lnTo>
                  <a:pt x="16803682" y="0"/>
                </a:lnTo>
                <a:lnTo>
                  <a:pt x="16803682" y="6805491"/>
                </a:lnTo>
                <a:lnTo>
                  <a:pt x="0" y="6805491"/>
                </a:lnTo>
                <a:lnTo>
                  <a:pt x="0" y="0"/>
                </a:lnTo>
                <a:close/>
              </a:path>
            </a:pathLst>
          </a:custGeom>
          <a:blipFill>
            <a:blip r:embed="rId10"/>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646929" y="952500"/>
            <a:ext cx="8994142"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Streamlit Implementation</a:t>
            </a:r>
          </a:p>
        </p:txBody>
      </p:sp>
      <p:sp>
        <p:nvSpPr>
          <p:cNvPr name="Freeform 3" id="3"/>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421049" y="3349993"/>
            <a:ext cx="5854783" cy="4576836"/>
          </a:xfrm>
          <a:custGeom>
            <a:avLst/>
            <a:gdLst/>
            <a:ahLst/>
            <a:cxnLst/>
            <a:rect r="r" b="b" t="t" l="l"/>
            <a:pathLst>
              <a:path h="4576836" w="5854783">
                <a:moveTo>
                  <a:pt x="0" y="0"/>
                </a:moveTo>
                <a:lnTo>
                  <a:pt x="5854783" y="0"/>
                </a:lnTo>
                <a:lnTo>
                  <a:pt x="5854783" y="4576836"/>
                </a:lnTo>
                <a:lnTo>
                  <a:pt x="0" y="4576836"/>
                </a:lnTo>
                <a:lnTo>
                  <a:pt x="0" y="0"/>
                </a:lnTo>
                <a:close/>
              </a:path>
            </a:pathLst>
          </a:custGeom>
          <a:blipFill>
            <a:blip r:embed="rId10"/>
            <a:stretch>
              <a:fillRect l="0" t="0" r="0" b="0"/>
            </a:stretch>
          </a:blipFill>
        </p:spPr>
      </p:sp>
      <p:sp>
        <p:nvSpPr>
          <p:cNvPr name="TextBox 8" id="8"/>
          <p:cNvSpPr txBox="true"/>
          <p:nvPr/>
        </p:nvSpPr>
        <p:spPr>
          <a:xfrm rot="0">
            <a:off x="3171143" y="3522855"/>
            <a:ext cx="2283032" cy="815208"/>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Prioritize and Plan</a:t>
            </a:r>
          </a:p>
        </p:txBody>
      </p:sp>
      <p:sp>
        <p:nvSpPr>
          <p:cNvPr name="TextBox 9" id="9"/>
          <p:cNvSpPr txBox="true"/>
          <p:nvPr/>
        </p:nvSpPr>
        <p:spPr>
          <a:xfrm rot="0">
            <a:off x="1773701" y="3655829"/>
            <a:ext cx="7818789" cy="3908014"/>
          </a:xfrm>
          <a:prstGeom prst="rect">
            <a:avLst/>
          </a:prstGeom>
        </p:spPr>
        <p:txBody>
          <a:bodyPr anchor="t" rtlCol="false" tIns="0" lIns="0" bIns="0" rIns="0">
            <a:spAutoFit/>
          </a:bodyPr>
          <a:lstStyle/>
          <a:p>
            <a:pPr algn="l" marL="618804" indent="-309402" lvl="1">
              <a:lnSpc>
                <a:spcPts val="4012"/>
              </a:lnSpc>
              <a:buAutoNum type="arabicPeriod" startAt="1"/>
            </a:pPr>
            <a:r>
              <a:rPr lang="en-US" sz="2866">
                <a:solidFill>
                  <a:srgbClr val="000000"/>
                </a:solidFill>
                <a:latin typeface="Roboto Slab"/>
                <a:ea typeface="Roboto Slab"/>
                <a:cs typeface="Roboto Slab"/>
                <a:sym typeface="Roboto Slab"/>
              </a:rPr>
              <a:t>Single-customer input form for instant scoring.</a:t>
            </a:r>
          </a:p>
          <a:p>
            <a:pPr algn="l" marL="618804" indent="-309402" lvl="1">
              <a:lnSpc>
                <a:spcPts val="4012"/>
              </a:lnSpc>
              <a:buAutoNum type="arabicPeriod" startAt="1"/>
            </a:pPr>
            <a:r>
              <a:rPr lang="en-US" sz="2866">
                <a:solidFill>
                  <a:srgbClr val="000000"/>
                </a:solidFill>
                <a:latin typeface="Roboto Slab"/>
                <a:ea typeface="Roboto Slab"/>
                <a:cs typeface="Roboto Slab"/>
                <a:sym typeface="Roboto Slab"/>
              </a:rPr>
              <a:t>Display predicted churn probability with risk levels.</a:t>
            </a:r>
          </a:p>
          <a:p>
            <a:pPr algn="l" marL="618804" indent="-309402" lvl="1">
              <a:lnSpc>
                <a:spcPts val="4012"/>
              </a:lnSpc>
              <a:buAutoNum type="arabicPeriod" startAt="1"/>
            </a:pPr>
            <a:r>
              <a:rPr lang="en-US" sz="2866">
                <a:solidFill>
                  <a:srgbClr val="000000"/>
                </a:solidFill>
                <a:latin typeface="Roboto Slab"/>
                <a:ea typeface="Roboto Slab"/>
                <a:cs typeface="Roboto Slab"/>
                <a:sym typeface="Roboto Slab"/>
              </a:rPr>
              <a:t>Visual insights: churn distribution, feature importance, and key metrics.</a:t>
            </a:r>
          </a:p>
          <a:p>
            <a:pPr algn="l" marL="618804" indent="-309402" lvl="1">
              <a:lnSpc>
                <a:spcPts val="4012"/>
              </a:lnSpc>
              <a:buAutoNum type="arabicPeriod" startAt="1"/>
            </a:pPr>
            <a:r>
              <a:rPr lang="en-US" sz="2866">
                <a:solidFill>
                  <a:srgbClr val="000000"/>
                </a:solidFill>
                <a:latin typeface="Roboto Slab"/>
                <a:ea typeface="Roboto Slab"/>
                <a:cs typeface="Roboto Slab"/>
                <a:sym typeface="Roboto Slab"/>
              </a:rPr>
              <a:t>Downloadable prediction results.</a:t>
            </a:r>
          </a:p>
          <a:p>
            <a:pPr algn="ctr">
              <a:lnSpc>
                <a:spcPts val="3032"/>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646929" y="952500"/>
            <a:ext cx="8994142"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Why Streamlit?</a:t>
            </a:r>
          </a:p>
        </p:txBody>
      </p:sp>
      <p:sp>
        <p:nvSpPr>
          <p:cNvPr name="Freeform 3" id="3"/>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829659" y="2429362"/>
            <a:ext cx="10075289" cy="6716860"/>
          </a:xfrm>
          <a:custGeom>
            <a:avLst/>
            <a:gdLst/>
            <a:ahLst/>
            <a:cxnLst/>
            <a:rect r="r" b="b" t="t" l="l"/>
            <a:pathLst>
              <a:path h="6716860" w="10075289">
                <a:moveTo>
                  <a:pt x="0" y="0"/>
                </a:moveTo>
                <a:lnTo>
                  <a:pt x="10075290" y="0"/>
                </a:lnTo>
                <a:lnTo>
                  <a:pt x="10075290" y="6716860"/>
                </a:lnTo>
                <a:lnTo>
                  <a:pt x="0" y="6716860"/>
                </a:lnTo>
                <a:lnTo>
                  <a:pt x="0" y="0"/>
                </a:lnTo>
                <a:close/>
              </a:path>
            </a:pathLst>
          </a:custGeom>
          <a:blipFill>
            <a:blip r:embed="rId8"/>
            <a:stretch>
              <a:fillRect l="0" t="0" r="0" b="0"/>
            </a:stretch>
          </a:blipFill>
        </p:spPr>
      </p:sp>
      <p:sp>
        <p:nvSpPr>
          <p:cNvPr name="Freeform 7" id="7"/>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9">
              <a:alphaModFix amt="50000"/>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736403" y="3909566"/>
            <a:ext cx="7751251" cy="4643344"/>
          </a:xfrm>
          <a:prstGeom prst="rect">
            <a:avLst/>
          </a:prstGeom>
        </p:spPr>
        <p:txBody>
          <a:bodyPr anchor="t" rtlCol="false" tIns="0" lIns="0" bIns="0" rIns="0">
            <a:spAutoFit/>
          </a:bodyPr>
          <a:lstStyle/>
          <a:p>
            <a:pPr algn="l" marL="748341" indent="-374171" lvl="1">
              <a:lnSpc>
                <a:spcPts val="4852"/>
              </a:lnSpc>
              <a:buAutoNum type="arabicPeriod" startAt="1"/>
            </a:pPr>
            <a:r>
              <a:rPr lang="en-US" sz="3466">
                <a:solidFill>
                  <a:srgbClr val="000000"/>
                </a:solidFill>
                <a:latin typeface="Roboto Slab"/>
                <a:ea typeface="Roboto Slab"/>
                <a:cs typeface="Roboto Slab"/>
                <a:sym typeface="Roboto Slab"/>
              </a:rPr>
              <a:t>Real-Time Interaction</a:t>
            </a:r>
          </a:p>
          <a:p>
            <a:pPr algn="l" marL="748341" indent="-374171" lvl="1">
              <a:lnSpc>
                <a:spcPts val="4852"/>
              </a:lnSpc>
              <a:buAutoNum type="arabicPeriod" startAt="1"/>
            </a:pPr>
            <a:r>
              <a:rPr lang="en-US" sz="3466">
                <a:solidFill>
                  <a:srgbClr val="000000"/>
                </a:solidFill>
                <a:latin typeface="Roboto Slab"/>
                <a:ea typeface="Roboto Slab"/>
                <a:cs typeface="Roboto Slab"/>
                <a:sym typeface="Roboto Slab"/>
              </a:rPr>
              <a:t>Simple Model Integration</a:t>
            </a:r>
          </a:p>
          <a:p>
            <a:pPr algn="l" marL="748341" indent="-374171" lvl="1">
              <a:lnSpc>
                <a:spcPts val="4852"/>
              </a:lnSpc>
              <a:buAutoNum type="arabicPeriod" startAt="1"/>
            </a:pPr>
            <a:r>
              <a:rPr lang="en-US" sz="3466">
                <a:solidFill>
                  <a:srgbClr val="000000"/>
                </a:solidFill>
                <a:latin typeface="Roboto Slab"/>
                <a:ea typeface="Roboto Slab"/>
                <a:cs typeface="Roboto Slab"/>
                <a:sym typeface="Roboto Slab"/>
              </a:rPr>
              <a:t>Clean UI With Minimal Effort</a:t>
            </a:r>
          </a:p>
          <a:p>
            <a:pPr algn="l" marL="748341" indent="-374171" lvl="1">
              <a:lnSpc>
                <a:spcPts val="4852"/>
              </a:lnSpc>
              <a:buAutoNum type="arabicPeriod" startAt="1"/>
            </a:pPr>
            <a:r>
              <a:rPr lang="en-US" sz="3466">
                <a:solidFill>
                  <a:srgbClr val="000000"/>
                </a:solidFill>
                <a:latin typeface="Roboto Slab"/>
                <a:ea typeface="Roboto Slab"/>
                <a:cs typeface="Roboto Slab"/>
                <a:sym typeface="Roboto Slab"/>
              </a:rPr>
              <a:t>Faster Iteration &amp; Prototyping</a:t>
            </a:r>
          </a:p>
          <a:p>
            <a:pPr algn="l" marL="748341" indent="-374171" lvl="1">
              <a:lnSpc>
                <a:spcPts val="4852"/>
              </a:lnSpc>
              <a:buAutoNum type="arabicPeriod" startAt="1"/>
            </a:pPr>
            <a:r>
              <a:rPr lang="en-US" sz="3466">
                <a:solidFill>
                  <a:srgbClr val="000000"/>
                </a:solidFill>
                <a:latin typeface="Roboto Slab"/>
                <a:ea typeface="Roboto Slab"/>
                <a:cs typeface="Roboto Slab"/>
                <a:sym typeface="Roboto Slab"/>
              </a:rPr>
              <a:t>Easy Sharing &amp; Deployment</a:t>
            </a:r>
          </a:p>
          <a:p>
            <a:pPr algn="l" marL="748341" indent="-374171" lvl="1">
              <a:lnSpc>
                <a:spcPts val="4852"/>
              </a:lnSpc>
              <a:buAutoNum type="arabicPeriod" startAt="1"/>
            </a:pPr>
            <a:r>
              <a:rPr lang="en-US" sz="3466">
                <a:solidFill>
                  <a:srgbClr val="000000"/>
                </a:solidFill>
                <a:latin typeface="Roboto Slab"/>
                <a:ea typeface="Roboto Slab"/>
                <a:cs typeface="Roboto Slab"/>
                <a:sym typeface="Roboto Slab"/>
              </a:rPr>
              <a:t> Built-in Support for Visualizations</a:t>
            </a:r>
          </a:p>
          <a:p>
            <a:pPr algn="ctr">
              <a:lnSpc>
                <a:spcPts val="3032"/>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646929" y="952500"/>
            <a:ext cx="8994142"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conclusion and retention strategy</a:t>
            </a:r>
          </a:p>
        </p:txBody>
      </p:sp>
      <p:sp>
        <p:nvSpPr>
          <p:cNvPr name="Freeform 3" id="3"/>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2231020" y="2863518"/>
            <a:ext cx="13331174" cy="4563531"/>
          </a:xfrm>
          <a:prstGeom prst="rect">
            <a:avLst/>
          </a:prstGeom>
        </p:spPr>
        <p:txBody>
          <a:bodyPr anchor="t" rtlCol="false" tIns="0" lIns="0" bIns="0" rIns="0">
            <a:spAutoFit/>
          </a:bodyPr>
          <a:lstStyle/>
          <a:p>
            <a:pPr algn="l" marL="557759" indent="-278879" lvl="1">
              <a:lnSpc>
                <a:spcPts val="3616"/>
              </a:lnSpc>
              <a:buFont typeface="Arial"/>
              <a:buChar char="•"/>
            </a:pPr>
            <a:r>
              <a:rPr lang="en-US" b="true" sz="2583">
                <a:solidFill>
                  <a:srgbClr val="2D2261"/>
                </a:solidFill>
                <a:latin typeface="Red Hat Display Bold"/>
                <a:ea typeface="Red Hat Display Bold"/>
                <a:cs typeface="Red Hat Display Bold"/>
                <a:sym typeface="Red Hat Display Bold"/>
              </a:rPr>
              <a:t>Churn is mainly driven by behavioral factors:</a:t>
            </a:r>
          </a:p>
          <a:p>
            <a:pPr algn="l" marL="557759" indent="-278879" lvl="1">
              <a:lnSpc>
                <a:spcPts val="3616"/>
              </a:lnSpc>
              <a:buFont typeface="Arial"/>
              <a:buChar char="•"/>
            </a:pPr>
            <a:r>
              <a:rPr lang="en-US" b="true" sz="2583">
                <a:solidFill>
                  <a:srgbClr val="2D2261"/>
                </a:solidFill>
                <a:latin typeface="Red Hat Display Bold"/>
                <a:ea typeface="Red Hat Display Bold"/>
                <a:cs typeface="Red Hat Display Bold"/>
                <a:sym typeface="Red Hat Display Bold"/>
              </a:rPr>
              <a:t>payment method, engagement level, product interest, age segment, and service experience.</a:t>
            </a:r>
          </a:p>
          <a:p>
            <a:pPr algn="l" marL="557759" indent="-278879" lvl="1">
              <a:lnSpc>
                <a:spcPts val="3616"/>
              </a:lnSpc>
              <a:buFont typeface="Arial"/>
              <a:buChar char="•"/>
            </a:pPr>
            <a:r>
              <a:rPr lang="en-US" b="true" sz="2583">
                <a:solidFill>
                  <a:srgbClr val="2D2261"/>
                </a:solidFill>
                <a:latin typeface="Red Hat Display Bold"/>
                <a:ea typeface="Red Hat Display Bold"/>
                <a:cs typeface="Red Hat Display Bold"/>
                <a:sym typeface="Red Hat Display Bold"/>
              </a:rPr>
              <a:t>Customers respond best to mid-range value offers (150–400) instead of heavy discounts.</a:t>
            </a:r>
          </a:p>
          <a:p>
            <a:pPr algn="l" marL="557759" indent="-278879" lvl="1">
              <a:lnSpc>
                <a:spcPts val="3616"/>
              </a:lnSpc>
              <a:buFont typeface="Arial"/>
              <a:buChar char="•"/>
            </a:pPr>
            <a:r>
              <a:rPr lang="en-US" b="true" sz="2583">
                <a:solidFill>
                  <a:srgbClr val="2D2261"/>
                </a:solidFill>
                <a:latin typeface="Red Hat Display Bold"/>
                <a:ea typeface="Red Hat Display Bold"/>
                <a:cs typeface="Red Hat Display Bold"/>
                <a:sym typeface="Red Hat Display Bold"/>
              </a:rPr>
              <a:t>Digital payment users churn less, while cash users churn more due to payment friction and lack of auto-renewal.</a:t>
            </a:r>
          </a:p>
          <a:p>
            <a:pPr algn="l" marL="557759" indent="-278879" lvl="1">
              <a:lnSpc>
                <a:spcPts val="3616"/>
              </a:lnSpc>
              <a:buFont typeface="Arial"/>
              <a:buChar char="•"/>
            </a:pPr>
            <a:r>
              <a:rPr lang="en-US" b="true" sz="2583">
                <a:solidFill>
                  <a:srgbClr val="2D2261"/>
                </a:solidFill>
                <a:latin typeface="Red Hat Display Bold"/>
                <a:ea typeface="Red Hat Display Bold"/>
                <a:cs typeface="Red Hat Display Bold"/>
                <a:sym typeface="Red Hat Display Bold"/>
              </a:rPr>
              <a:t>Age matters: core customers (30–57) seek reliability, while younger customers (18–29) require modern, digital-first engagement to build loyalty.</a:t>
            </a:r>
          </a:p>
          <a:p>
            <a:pPr algn="l">
              <a:lnSpc>
                <a:spcPts val="3616"/>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646929" y="952500"/>
            <a:ext cx="8994142" cy="1490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Recommendations and retention strategy</a:t>
            </a:r>
          </a:p>
        </p:txBody>
      </p:sp>
      <p:sp>
        <p:nvSpPr>
          <p:cNvPr name="Freeform 3" id="3"/>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736403" y="3909566"/>
            <a:ext cx="18038339" cy="588235"/>
          </a:xfrm>
          <a:prstGeom prst="rect">
            <a:avLst/>
          </a:prstGeom>
        </p:spPr>
        <p:txBody>
          <a:bodyPr anchor="t" rtlCol="false" tIns="0" lIns="0" bIns="0" rIns="0">
            <a:spAutoFit/>
          </a:bodyPr>
          <a:lstStyle/>
          <a:p>
            <a:pPr algn="l">
              <a:lnSpc>
                <a:spcPts val="4852"/>
              </a:lnSpc>
              <a:spcBef>
                <a:spcPct val="0"/>
              </a:spcBef>
            </a:pPr>
          </a:p>
        </p:txBody>
      </p:sp>
      <p:sp>
        <p:nvSpPr>
          <p:cNvPr name="TextBox 8" id="8"/>
          <p:cNvSpPr txBox="true"/>
          <p:nvPr/>
        </p:nvSpPr>
        <p:spPr>
          <a:xfrm rot="0">
            <a:off x="1978348" y="2983270"/>
            <a:ext cx="14915555" cy="4563531"/>
          </a:xfrm>
          <a:prstGeom prst="rect">
            <a:avLst/>
          </a:prstGeom>
        </p:spPr>
        <p:txBody>
          <a:bodyPr anchor="t" rtlCol="false" tIns="0" lIns="0" bIns="0" rIns="0">
            <a:spAutoFit/>
          </a:bodyPr>
          <a:lstStyle/>
          <a:p>
            <a:pPr algn="ctr">
              <a:lnSpc>
                <a:spcPts val="3616"/>
              </a:lnSpc>
              <a:spcBef>
                <a:spcPct val="0"/>
              </a:spcBef>
            </a:pPr>
          </a:p>
          <a:p>
            <a:pPr algn="l" marL="557759" indent="-278879" lvl="1">
              <a:lnSpc>
                <a:spcPts val="3616"/>
              </a:lnSpc>
              <a:spcBef>
                <a:spcPct val="0"/>
              </a:spcBef>
              <a:buFont typeface="Arial"/>
              <a:buChar char="•"/>
            </a:pPr>
            <a:r>
              <a:rPr lang="en-US" b="true" sz="2583" strike="noStrike" u="none">
                <a:solidFill>
                  <a:srgbClr val="2D2261"/>
                </a:solidFill>
                <a:latin typeface="Red Hat Display Bold"/>
                <a:ea typeface="Red Hat Display Bold"/>
                <a:cs typeface="Red Hat Display Bold"/>
                <a:sym typeface="Red Hat Display Bold"/>
              </a:rPr>
              <a:t>Shift customers from cash → digital payments using proactive incentives.</a:t>
            </a:r>
          </a:p>
          <a:p>
            <a:pPr algn="l" marL="557759" indent="-278879" lvl="1">
              <a:lnSpc>
                <a:spcPts val="3616"/>
              </a:lnSpc>
              <a:spcBef>
                <a:spcPct val="0"/>
              </a:spcBef>
              <a:buFont typeface="Arial"/>
              <a:buChar char="•"/>
            </a:pPr>
            <a:r>
              <a:rPr lang="en-US" b="true" sz="2583" strike="noStrike" u="none">
                <a:solidFill>
                  <a:srgbClr val="2D2261"/>
                </a:solidFill>
                <a:latin typeface="Red Hat Display Bold"/>
                <a:ea typeface="Red Hat Display Bold"/>
                <a:cs typeface="Red Hat Display Bold"/>
                <a:sym typeface="Red Hat Display Bold"/>
              </a:rPr>
              <a:t>Implement fast, frictionless checkout (e.g., One-Click Pay / digital wallets).</a:t>
            </a:r>
          </a:p>
          <a:p>
            <a:pPr algn="l" marL="557759" indent="-278879" lvl="1">
              <a:lnSpc>
                <a:spcPts val="3616"/>
              </a:lnSpc>
              <a:spcBef>
                <a:spcPct val="0"/>
              </a:spcBef>
              <a:buFont typeface="Arial"/>
              <a:buChar char="•"/>
            </a:pPr>
            <a:r>
              <a:rPr lang="en-US" b="true" sz="2583" strike="noStrike" u="none">
                <a:solidFill>
                  <a:srgbClr val="2D2261"/>
                </a:solidFill>
                <a:latin typeface="Red Hat Display Bold"/>
                <a:ea typeface="Red Hat Display Bold"/>
                <a:cs typeface="Red Hat Display Bold"/>
                <a:sym typeface="Red Hat Display Bold"/>
              </a:rPr>
              <a:t>Create personalized mid-range bundles aligned to typical spending behavior.</a:t>
            </a:r>
          </a:p>
          <a:p>
            <a:pPr algn="l" marL="557759" indent="-278879" lvl="1">
              <a:lnSpc>
                <a:spcPts val="3616"/>
              </a:lnSpc>
              <a:spcBef>
                <a:spcPct val="0"/>
              </a:spcBef>
              <a:buFont typeface="Arial"/>
              <a:buChar char="•"/>
            </a:pPr>
            <a:r>
              <a:rPr lang="en-US" b="true" sz="2583" strike="noStrike" u="none">
                <a:solidFill>
                  <a:srgbClr val="2D2261"/>
                </a:solidFill>
                <a:latin typeface="Red Hat Display Bold"/>
                <a:ea typeface="Red Hat Display Bold"/>
                <a:cs typeface="Red Hat Display Bold"/>
                <a:sym typeface="Red Hat Display Bold"/>
              </a:rPr>
              <a:t>Build category-specific loyalty &amp; retention funnels for targeted engagement.</a:t>
            </a:r>
          </a:p>
          <a:p>
            <a:pPr algn="l" marL="557759" indent="-278879" lvl="1">
              <a:lnSpc>
                <a:spcPts val="3616"/>
              </a:lnSpc>
              <a:spcBef>
                <a:spcPct val="0"/>
              </a:spcBef>
              <a:buFont typeface="Arial"/>
              <a:buChar char="•"/>
            </a:pPr>
            <a:r>
              <a:rPr lang="en-US" b="true" sz="2583" strike="noStrike" u="none">
                <a:solidFill>
                  <a:srgbClr val="2D2261"/>
                </a:solidFill>
                <a:latin typeface="Red Hat Display Bold"/>
                <a:ea typeface="Red Hat Display Bold"/>
                <a:cs typeface="Red Hat Display Bold"/>
                <a:sym typeface="Red Hat Display Bold"/>
              </a:rPr>
              <a:t>Use predictive churn flags and customer stability scoring to trigger early retention support.</a:t>
            </a:r>
          </a:p>
          <a:p>
            <a:pPr algn="l" marL="557759" indent="-278879" lvl="1">
              <a:lnSpc>
                <a:spcPts val="3616"/>
              </a:lnSpc>
              <a:spcBef>
                <a:spcPct val="0"/>
              </a:spcBef>
              <a:buFont typeface="Arial"/>
              <a:buChar char="•"/>
            </a:pPr>
            <a:r>
              <a:rPr lang="en-US" b="true" sz="2583" strike="noStrike" u="none">
                <a:solidFill>
                  <a:srgbClr val="2D2261"/>
                </a:solidFill>
                <a:latin typeface="Red Hat Display Bold"/>
                <a:ea typeface="Red Hat Display Bold"/>
                <a:cs typeface="Red Hat Display Bold"/>
                <a:sym typeface="Red Hat Display Bold"/>
              </a:rPr>
              <a:t>Apply age-based messaging:</a:t>
            </a:r>
          </a:p>
          <a:p>
            <a:pPr algn="l" marL="557759" indent="-278879" lvl="1">
              <a:lnSpc>
                <a:spcPts val="3616"/>
              </a:lnSpc>
              <a:spcBef>
                <a:spcPct val="0"/>
              </a:spcBef>
              <a:buFont typeface="Arial"/>
              <a:buChar char="•"/>
            </a:pPr>
            <a:r>
              <a:rPr lang="en-US" b="true" sz="2583" strike="noStrike" u="none">
                <a:solidFill>
                  <a:srgbClr val="2D2261"/>
                </a:solidFill>
                <a:latin typeface="Red Hat Display Bold"/>
                <a:ea typeface="Red Hat Display Bold"/>
                <a:cs typeface="Red Hat Display Bold"/>
                <a:sym typeface="Red Hat Display Bold"/>
              </a:rPr>
              <a:t>Older segments → reliability, quality, guarantees</a:t>
            </a:r>
          </a:p>
          <a:p>
            <a:pPr algn="l" marL="557759" indent="-278879" lvl="1">
              <a:lnSpc>
                <a:spcPts val="3616"/>
              </a:lnSpc>
              <a:spcBef>
                <a:spcPct val="0"/>
              </a:spcBef>
              <a:buFont typeface="Arial"/>
              <a:buChar char="•"/>
            </a:pPr>
            <a:r>
              <a:rPr lang="en-US" b="true" sz="2583" strike="noStrike" u="none">
                <a:solidFill>
                  <a:srgbClr val="2D2261"/>
                </a:solidFill>
                <a:latin typeface="Red Hat Display Bold"/>
                <a:ea typeface="Red Hat Display Bold"/>
                <a:cs typeface="Red Hat Display Bold"/>
                <a:sym typeface="Red Hat Display Bold"/>
              </a:rPr>
              <a:t>Younger segments → trends, speed, social proof, influencers</a:t>
            </a:r>
          </a:p>
          <a:p>
            <a:pPr algn="ctr">
              <a:lnSpc>
                <a:spcPts val="3616"/>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8760629" y="-2095015"/>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68185" y="2136222"/>
            <a:ext cx="6925852" cy="6014556"/>
          </a:xfrm>
          <a:custGeom>
            <a:avLst/>
            <a:gdLst/>
            <a:ahLst/>
            <a:cxnLst/>
            <a:rect r="r" b="b" t="t" l="l"/>
            <a:pathLst>
              <a:path h="6014556" w="6925852">
                <a:moveTo>
                  <a:pt x="0" y="0"/>
                </a:moveTo>
                <a:lnTo>
                  <a:pt x="6925852" y="0"/>
                </a:lnTo>
                <a:lnTo>
                  <a:pt x="6925852" y="6014556"/>
                </a:lnTo>
                <a:lnTo>
                  <a:pt x="0" y="6014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35325">
            <a:off x="-1336143" y="6923321"/>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26878">
            <a:off x="-216283" y="847655"/>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830696">
            <a:off x="12315724" y="82296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198145" y="3546447"/>
            <a:ext cx="3856091" cy="824240"/>
          </a:xfrm>
          <a:prstGeom prst="rect">
            <a:avLst/>
          </a:prstGeom>
        </p:spPr>
        <p:txBody>
          <a:bodyPr anchor="t" rtlCol="false" tIns="0" lIns="0" bIns="0" rIns="0">
            <a:spAutoFit/>
          </a:bodyPr>
          <a:lstStyle/>
          <a:p>
            <a:pPr algn="l">
              <a:lnSpc>
                <a:spcPts val="6502"/>
              </a:lnSpc>
            </a:pPr>
            <a:r>
              <a:rPr lang="en-US" b="true" sz="5227">
                <a:solidFill>
                  <a:srgbClr val="2D2261"/>
                </a:solidFill>
                <a:latin typeface="Red Hat Display Bold"/>
                <a:ea typeface="Red Hat Display Bold"/>
                <a:cs typeface="Red Hat Display Bold"/>
                <a:sym typeface="Red Hat Display Bold"/>
              </a:rPr>
              <a:t>Thank You</a:t>
            </a:r>
          </a:p>
        </p:txBody>
      </p:sp>
      <p:sp>
        <p:nvSpPr>
          <p:cNvPr name="TextBox 8" id="8"/>
          <p:cNvSpPr txBox="true"/>
          <p:nvPr/>
        </p:nvSpPr>
        <p:spPr>
          <a:xfrm rot="0">
            <a:off x="1198145" y="4702824"/>
            <a:ext cx="7024391" cy="2452977"/>
          </a:xfrm>
          <a:prstGeom prst="rect">
            <a:avLst/>
          </a:prstGeom>
        </p:spPr>
        <p:txBody>
          <a:bodyPr anchor="t" rtlCol="false" tIns="0" lIns="0" bIns="0" rIns="0">
            <a:spAutoFit/>
          </a:bodyPr>
          <a:lstStyle/>
          <a:p>
            <a:pPr algn="l">
              <a:lnSpc>
                <a:spcPts val="6546"/>
              </a:lnSpc>
            </a:pPr>
            <a:r>
              <a:rPr lang="en-US" sz="4676">
                <a:solidFill>
                  <a:srgbClr val="5B7ABE"/>
                </a:solidFill>
                <a:latin typeface="Red Hat Display"/>
                <a:ea typeface="Red Hat Display"/>
                <a:cs typeface="Red Hat Display"/>
                <a:sym typeface="Red Hat Display"/>
              </a:rPr>
              <a:t>If you have any questions, I’ll be happy to answer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DAG6AFGpqsE</dc:identifier>
  <dcterms:modified xsi:type="dcterms:W3CDTF">2011-08-01T06:04:30Z</dcterms:modified>
  <cp:revision>1</cp:revision>
  <dc:title>Blue and Cream Illustrative SWOT Analysis Presentation</dc:title>
</cp:coreProperties>
</file>